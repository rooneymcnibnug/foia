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60"/>
  </p:notesMasterIdLst>
  <p:handoutMasterIdLst>
    <p:handoutMasterId r:id="rId61"/>
  </p:handoutMasterIdLst>
  <p:sldIdLst>
    <p:sldId id="277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8" r:id="rId12"/>
    <p:sldId id="309" r:id="rId13"/>
    <p:sldId id="310" r:id="rId14"/>
    <p:sldId id="270" r:id="rId15"/>
    <p:sldId id="311" r:id="rId16"/>
    <p:sldId id="312" r:id="rId17"/>
    <p:sldId id="313" r:id="rId18"/>
    <p:sldId id="274" r:id="rId19"/>
    <p:sldId id="275" r:id="rId20"/>
    <p:sldId id="276" r:id="rId21"/>
    <p:sldId id="314" r:id="rId22"/>
    <p:sldId id="315" r:id="rId23"/>
    <p:sldId id="316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17" r:id="rId43"/>
    <p:sldId id="257" r:id="rId44"/>
    <p:sldId id="258" r:id="rId45"/>
    <p:sldId id="259" r:id="rId46"/>
    <p:sldId id="260" r:id="rId47"/>
    <p:sldId id="261" r:id="rId48"/>
    <p:sldId id="262" r:id="rId49"/>
    <p:sldId id="263" r:id="rId50"/>
    <p:sldId id="264" r:id="rId51"/>
    <p:sldId id="265" r:id="rId52"/>
    <p:sldId id="266" r:id="rId53"/>
    <p:sldId id="267" r:id="rId54"/>
    <p:sldId id="268" r:id="rId55"/>
    <p:sldId id="269" r:id="rId56"/>
    <p:sldId id="273" r:id="rId57"/>
    <p:sldId id="271" r:id="rId58"/>
    <p:sldId id="272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16" y="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/E:\aMEXICO_MockCrime\RawPupilCurve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/E:\aMEXICO_MockCrime\RawPupilCurv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369835714980093E-2"/>
          <c:y val="3.6849996023224398E-2"/>
          <c:w val="0.861201030426752"/>
          <c:h val="0.86522468782311301"/>
        </c:manualLayout>
      </c:layout>
      <c:lineChart>
        <c:grouping val="standard"/>
        <c:varyColors val="0"/>
        <c:ser>
          <c:idx val="0"/>
          <c:order val="0"/>
          <c:spPr>
            <a:ln>
              <a:solidFill>
                <a:srgbClr val="0070C0"/>
              </a:solidFill>
            </a:ln>
          </c:spPr>
          <c:marker>
            <c:symbol val="none"/>
          </c:marker>
          <c:val>
            <c:numRef>
              <c:f>Sheet1!$D$2:$D$41</c:f>
              <c:numCache>
                <c:formatCode>###0.000</c:formatCode>
                <c:ptCount val="40"/>
                <c:pt idx="0">
                  <c:v>0</c:v>
                </c:pt>
                <c:pt idx="1">
                  <c:v>2.7641025641025698E-3</c:v>
                </c:pt>
                <c:pt idx="2">
                  <c:v>6.2243589743589704E-3</c:v>
                </c:pt>
                <c:pt idx="3">
                  <c:v>9.3358974358974407E-3</c:v>
                </c:pt>
                <c:pt idx="4">
                  <c:v>1.24320512820513E-2</c:v>
                </c:pt>
                <c:pt idx="5">
                  <c:v>1.51397435897436E-2</c:v>
                </c:pt>
                <c:pt idx="6">
                  <c:v>1.80410256410257E-2</c:v>
                </c:pt>
                <c:pt idx="7">
                  <c:v>2.1344871794871802E-2</c:v>
                </c:pt>
                <c:pt idx="8">
                  <c:v>2.3725641025640998E-2</c:v>
                </c:pt>
                <c:pt idx="9">
                  <c:v>2.49153846153846E-2</c:v>
                </c:pt>
                <c:pt idx="10">
                  <c:v>2.70551282051282E-2</c:v>
                </c:pt>
                <c:pt idx="11">
                  <c:v>2.88089743589744E-2</c:v>
                </c:pt>
                <c:pt idx="12">
                  <c:v>3.1111538461538499E-2</c:v>
                </c:pt>
                <c:pt idx="13">
                  <c:v>3.2226923076923097E-2</c:v>
                </c:pt>
                <c:pt idx="14">
                  <c:v>3.1116666666666699E-2</c:v>
                </c:pt>
                <c:pt idx="15">
                  <c:v>3.0001282051282E-2</c:v>
                </c:pt>
                <c:pt idx="16">
                  <c:v>2.89474358974359E-2</c:v>
                </c:pt>
                <c:pt idx="17">
                  <c:v>2.73884615384615E-2</c:v>
                </c:pt>
                <c:pt idx="18">
                  <c:v>2.4684615384615399E-2</c:v>
                </c:pt>
                <c:pt idx="19">
                  <c:v>2.24692307692308E-2</c:v>
                </c:pt>
                <c:pt idx="20">
                  <c:v>1.8924358974358998E-2</c:v>
                </c:pt>
                <c:pt idx="21">
                  <c:v>1.54371794871795E-2</c:v>
                </c:pt>
                <c:pt idx="22">
                  <c:v>1.26333333333333E-2</c:v>
                </c:pt>
                <c:pt idx="23">
                  <c:v>8.4000000000000099E-3</c:v>
                </c:pt>
                <c:pt idx="24">
                  <c:v>1.2512820512820401E-3</c:v>
                </c:pt>
                <c:pt idx="25">
                  <c:v>-7.8435897435897503E-3</c:v>
                </c:pt>
                <c:pt idx="26">
                  <c:v>-1.6750000000000001E-2</c:v>
                </c:pt>
                <c:pt idx="27">
                  <c:v>-2.5715384615384598E-2</c:v>
                </c:pt>
                <c:pt idx="28">
                  <c:v>-3.1479487179487203E-2</c:v>
                </c:pt>
                <c:pt idx="29">
                  <c:v>-3.5648717948718003E-2</c:v>
                </c:pt>
                <c:pt idx="30">
                  <c:v>-3.5367948717948801E-2</c:v>
                </c:pt>
                <c:pt idx="31">
                  <c:v>-2.9780769230769201E-2</c:v>
                </c:pt>
                <c:pt idx="32">
                  <c:v>-2.33794871794872E-2</c:v>
                </c:pt>
                <c:pt idx="33">
                  <c:v>-1.61089743589744E-2</c:v>
                </c:pt>
                <c:pt idx="34">
                  <c:v>-1.13564102564103E-2</c:v>
                </c:pt>
                <c:pt idx="35">
                  <c:v>-1.02294871794872E-2</c:v>
                </c:pt>
                <c:pt idx="36">
                  <c:v>-1.5971794871794901E-2</c:v>
                </c:pt>
                <c:pt idx="37">
                  <c:v>-2.5474358974358999E-2</c:v>
                </c:pt>
                <c:pt idx="38">
                  <c:v>-3.55974358974359E-2</c:v>
                </c:pt>
                <c:pt idx="39">
                  <c:v>-4.5929487179487201E-2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DE-46A5-8D08-11D54D310A57}"/>
            </c:ext>
          </c:extLst>
        </c:ser>
        <c:ser>
          <c:idx val="1"/>
          <c:order val="1"/>
          <c:spPr>
            <a:ln w="38100">
              <a:solidFill>
                <a:srgbClr val="C00000"/>
              </a:solidFill>
            </a:ln>
          </c:spPr>
          <c:marker>
            <c:symbol val="none"/>
          </c:marker>
          <c:val>
            <c:numRef>
              <c:f>Sheet1!$E$2:$E$41</c:f>
              <c:numCache>
                <c:formatCode>###0.000</c:formatCode>
                <c:ptCount val="40"/>
                <c:pt idx="0">
                  <c:v>0</c:v>
                </c:pt>
                <c:pt idx="1">
                  <c:v>2.0192307692307701E-3</c:v>
                </c:pt>
                <c:pt idx="2">
                  <c:v>2.7448717948718002E-3</c:v>
                </c:pt>
                <c:pt idx="3">
                  <c:v>3.4089743589743602E-3</c:v>
                </c:pt>
                <c:pt idx="4">
                  <c:v>3.0423076923077001E-3</c:v>
                </c:pt>
                <c:pt idx="5">
                  <c:v>1.1858974358974401E-3</c:v>
                </c:pt>
                <c:pt idx="6">
                  <c:v>1.30384615384616E-3</c:v>
                </c:pt>
                <c:pt idx="7">
                  <c:v>1.5179487179487201E-3</c:v>
                </c:pt>
                <c:pt idx="8">
                  <c:v>1.87179487179487E-3</c:v>
                </c:pt>
                <c:pt idx="9">
                  <c:v>1.2564102564102599E-3</c:v>
                </c:pt>
                <c:pt idx="10" formatCode="####.000">
                  <c:v>4.5897435897435899E-4</c:v>
                </c:pt>
                <c:pt idx="11" formatCode="####.000">
                  <c:v>-3.1025641025641003E-4</c:v>
                </c:pt>
                <c:pt idx="12">
                  <c:v>-2.4615384615384599E-3</c:v>
                </c:pt>
                <c:pt idx="13">
                  <c:v>-4.5307692307692297E-3</c:v>
                </c:pt>
                <c:pt idx="14">
                  <c:v>-4.5871794871794897E-3</c:v>
                </c:pt>
                <c:pt idx="15">
                  <c:v>-4.0448717948717997E-3</c:v>
                </c:pt>
                <c:pt idx="16">
                  <c:v>-3.5243589743589698E-3</c:v>
                </c:pt>
                <c:pt idx="17">
                  <c:v>-4.2230769230769197E-3</c:v>
                </c:pt>
                <c:pt idx="18">
                  <c:v>-4.6025641025641099E-3</c:v>
                </c:pt>
                <c:pt idx="19">
                  <c:v>-3.67564102564102E-3</c:v>
                </c:pt>
                <c:pt idx="20">
                  <c:v>-4.1576923076923102E-3</c:v>
                </c:pt>
                <c:pt idx="21">
                  <c:v>-5.8705128205128196E-3</c:v>
                </c:pt>
                <c:pt idx="22">
                  <c:v>-7.4269230769230801E-3</c:v>
                </c:pt>
                <c:pt idx="23">
                  <c:v>-8.9923076923077092E-3</c:v>
                </c:pt>
                <c:pt idx="24">
                  <c:v>-1.00384615384615E-2</c:v>
                </c:pt>
                <c:pt idx="25">
                  <c:v>-1.0785897435897401E-2</c:v>
                </c:pt>
                <c:pt idx="26">
                  <c:v>-1.1219230769230801E-2</c:v>
                </c:pt>
                <c:pt idx="27">
                  <c:v>-0.01</c:v>
                </c:pt>
                <c:pt idx="28">
                  <c:v>-5.8307692307692296E-3</c:v>
                </c:pt>
                <c:pt idx="29">
                  <c:v>1.45769230769232E-3</c:v>
                </c:pt>
                <c:pt idx="30">
                  <c:v>1.12461538461538E-2</c:v>
                </c:pt>
                <c:pt idx="31">
                  <c:v>2.3510256410256399E-2</c:v>
                </c:pt>
                <c:pt idx="32">
                  <c:v>3.6158974358974402E-2</c:v>
                </c:pt>
                <c:pt idx="33">
                  <c:v>4.7676923076923103E-2</c:v>
                </c:pt>
                <c:pt idx="34">
                  <c:v>5.50769230769231E-2</c:v>
                </c:pt>
                <c:pt idx="35">
                  <c:v>5.6399999999999999E-2</c:v>
                </c:pt>
                <c:pt idx="36">
                  <c:v>4.9492307692307697E-2</c:v>
                </c:pt>
                <c:pt idx="37">
                  <c:v>4.1339743589743599E-2</c:v>
                </c:pt>
                <c:pt idx="38">
                  <c:v>3.3694871794871802E-2</c:v>
                </c:pt>
                <c:pt idx="39">
                  <c:v>2.52602564102564E-2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DE-46A5-8D08-11D54D310A57}"/>
            </c:ext>
          </c:extLst>
        </c:ser>
        <c:ser>
          <c:idx val="2"/>
          <c:order val="2"/>
          <c:spPr>
            <a:ln w="38100">
              <a:solidFill>
                <a:srgbClr val="FFC000"/>
              </a:solidFill>
            </a:ln>
          </c:spPr>
          <c:marker>
            <c:symbol val="none"/>
          </c:marker>
          <c:val>
            <c:numRef>
              <c:f>Sheet1!$F$2:$F$41</c:f>
              <c:numCache>
                <c:formatCode>####.000</c:formatCode>
                <c:ptCount val="40"/>
                <c:pt idx="0" formatCode="###0.000">
                  <c:v>0</c:v>
                </c:pt>
                <c:pt idx="1">
                  <c:v>-3.9102564102564102E-4</c:v>
                </c:pt>
                <c:pt idx="2" formatCode="###0.000">
                  <c:v>-2.4794871794871802E-3</c:v>
                </c:pt>
                <c:pt idx="3" formatCode="###0.000">
                  <c:v>-5.1064102564102503E-3</c:v>
                </c:pt>
                <c:pt idx="4" formatCode="###0.000">
                  <c:v>-6.8217948717948802E-3</c:v>
                </c:pt>
                <c:pt idx="5" formatCode="###0.000">
                  <c:v>-8.0999999999999996E-3</c:v>
                </c:pt>
                <c:pt idx="6" formatCode="###0.000">
                  <c:v>-9.6448717948717805E-3</c:v>
                </c:pt>
                <c:pt idx="7" formatCode="###0.000">
                  <c:v>-1.0760256410256399E-2</c:v>
                </c:pt>
                <c:pt idx="8" formatCode="###0.000">
                  <c:v>-1.2106410256410301E-2</c:v>
                </c:pt>
                <c:pt idx="9" formatCode="###0.000">
                  <c:v>-1.18128205128205E-2</c:v>
                </c:pt>
                <c:pt idx="10" formatCode="###0.000">
                  <c:v>-1.1064102564102601E-2</c:v>
                </c:pt>
                <c:pt idx="11" formatCode="###0.000">
                  <c:v>-1.1635897435897401E-2</c:v>
                </c:pt>
                <c:pt idx="12" formatCode="###0.000">
                  <c:v>-1.3614102564102599E-2</c:v>
                </c:pt>
                <c:pt idx="13" formatCode="###0.000">
                  <c:v>-1.6330769230769201E-2</c:v>
                </c:pt>
                <c:pt idx="14" formatCode="###0.000">
                  <c:v>-1.91269230769231E-2</c:v>
                </c:pt>
                <c:pt idx="15" formatCode="###0.000">
                  <c:v>-2.1465384615384601E-2</c:v>
                </c:pt>
                <c:pt idx="16" formatCode="###0.000">
                  <c:v>-2.4320512820512799E-2</c:v>
                </c:pt>
                <c:pt idx="17" formatCode="###0.000">
                  <c:v>-2.7533333333333399E-2</c:v>
                </c:pt>
                <c:pt idx="18" formatCode="###0.000">
                  <c:v>-3.0766666666666699E-2</c:v>
                </c:pt>
                <c:pt idx="19" formatCode="###0.000">
                  <c:v>-3.4497435897435903E-2</c:v>
                </c:pt>
                <c:pt idx="20" formatCode="###0.000">
                  <c:v>-3.73602564102564E-2</c:v>
                </c:pt>
                <c:pt idx="21" formatCode="###0.000">
                  <c:v>-3.8192307692307699E-2</c:v>
                </c:pt>
                <c:pt idx="22" formatCode="###0.000">
                  <c:v>-3.8371794871794901E-2</c:v>
                </c:pt>
                <c:pt idx="23" formatCode="###0.000">
                  <c:v>-3.7964102564102598E-2</c:v>
                </c:pt>
                <c:pt idx="24" formatCode="###0.000">
                  <c:v>-3.7091025641025697E-2</c:v>
                </c:pt>
                <c:pt idx="25" formatCode="###0.000">
                  <c:v>-3.5832051282051303E-2</c:v>
                </c:pt>
                <c:pt idx="26" formatCode="###0.000">
                  <c:v>-3.2420512820512802E-2</c:v>
                </c:pt>
                <c:pt idx="27" formatCode="###0.000">
                  <c:v>-2.7943589743589799E-2</c:v>
                </c:pt>
                <c:pt idx="28" formatCode="###0.000">
                  <c:v>-2.0835897435897501E-2</c:v>
                </c:pt>
                <c:pt idx="29" formatCode="###0.000">
                  <c:v>-1.07679487179487E-2</c:v>
                </c:pt>
                <c:pt idx="30" formatCode="###0.000">
                  <c:v>2.94102564102564E-3</c:v>
                </c:pt>
                <c:pt idx="31" formatCode="###0.000">
                  <c:v>1.84602564102564E-2</c:v>
                </c:pt>
                <c:pt idx="32" formatCode="###0.000">
                  <c:v>3.2957692307692299E-2</c:v>
                </c:pt>
                <c:pt idx="33" formatCode="###0.000">
                  <c:v>4.4919230769230802E-2</c:v>
                </c:pt>
                <c:pt idx="34" formatCode="###0.000">
                  <c:v>5.4019230769230799E-2</c:v>
                </c:pt>
                <c:pt idx="35" formatCode="###0.000">
                  <c:v>5.65846153846154E-2</c:v>
                </c:pt>
                <c:pt idx="36" formatCode="###0.000">
                  <c:v>5.4369230769230802E-2</c:v>
                </c:pt>
                <c:pt idx="37" formatCode="###0.000">
                  <c:v>4.7066666666666701E-2</c:v>
                </c:pt>
                <c:pt idx="38" formatCode="###0.000">
                  <c:v>3.9511538461538501E-2</c:v>
                </c:pt>
                <c:pt idx="39" formatCode="###0.000">
                  <c:v>3.12153846153846E-2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CDE-46A5-8D08-11D54D310A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00568016"/>
        <c:axId val="-193923792"/>
      </c:lineChart>
      <c:catAx>
        <c:axId val="-20056801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 baseline="0"/>
            </a:pPr>
            <a:endParaRPr lang="en-US"/>
          </a:p>
        </c:txPr>
        <c:crossAx val="-193923792"/>
        <c:crossesAt val="-100"/>
        <c:auto val="1"/>
        <c:lblAlgn val="ctr"/>
        <c:lblOffset val="100"/>
        <c:noMultiLvlLbl val="0"/>
      </c:catAx>
      <c:valAx>
        <c:axId val="-193923792"/>
        <c:scaling>
          <c:orientation val="minMax"/>
          <c:max val="0.15"/>
          <c:min val="-0.1"/>
        </c:scaling>
        <c:delete val="0"/>
        <c:axPos val="l"/>
        <c:numFmt formatCode=".00" sourceLinked="0"/>
        <c:majorTickMark val="out"/>
        <c:minorTickMark val="none"/>
        <c:tickLblPos val="nextTo"/>
        <c:txPr>
          <a:bodyPr rot="0" vert="horz"/>
          <a:lstStyle/>
          <a:p>
            <a:pPr>
              <a:defRPr sz="900"/>
            </a:pPr>
            <a:endParaRPr lang="en-US"/>
          </a:p>
        </c:txPr>
        <c:crossAx val="-200568016"/>
        <c:crossesAt val="1"/>
        <c:crossBetween val="between"/>
      </c:valAx>
      <c:spPr>
        <a:solidFill>
          <a:schemeClr val="bg1">
            <a:lumMod val="85000"/>
          </a:schemeClr>
        </a:solidFill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2983202099738"/>
          <c:y val="3.19444444444444E-2"/>
          <c:w val="0.84909711286089296"/>
          <c:h val="0.805351706036745"/>
        </c:manualLayout>
      </c:layout>
      <c:lineChart>
        <c:grouping val="standard"/>
        <c:varyColors val="0"/>
        <c:ser>
          <c:idx val="0"/>
          <c:order val="0"/>
          <c:spPr>
            <a:ln>
              <a:solidFill>
                <a:srgbClr val="0070C0"/>
              </a:solidFill>
            </a:ln>
          </c:spPr>
          <c:marker>
            <c:symbol val="none"/>
          </c:marker>
          <c:val>
            <c:numRef>
              <c:f>Sheet1!$D$42:$D$81</c:f>
              <c:numCache>
                <c:formatCode>###0.000</c:formatCode>
                <c:ptCount val="40"/>
                <c:pt idx="0">
                  <c:v>0</c:v>
                </c:pt>
                <c:pt idx="1">
                  <c:v>1.0772486772486799E-3</c:v>
                </c:pt>
                <c:pt idx="2">
                  <c:v>3.1010582010581999E-3</c:v>
                </c:pt>
                <c:pt idx="3">
                  <c:v>4.8253968253968299E-3</c:v>
                </c:pt>
                <c:pt idx="4">
                  <c:v>8.5179894179894192E-3</c:v>
                </c:pt>
                <c:pt idx="5">
                  <c:v>1.09820105820106E-2</c:v>
                </c:pt>
                <c:pt idx="6">
                  <c:v>1.40820105820106E-2</c:v>
                </c:pt>
                <c:pt idx="7">
                  <c:v>1.6411111111111099E-2</c:v>
                </c:pt>
                <c:pt idx="8">
                  <c:v>1.77624338624339E-2</c:v>
                </c:pt>
                <c:pt idx="9">
                  <c:v>1.76248677248677E-2</c:v>
                </c:pt>
                <c:pt idx="10">
                  <c:v>1.7306878306878298E-2</c:v>
                </c:pt>
                <c:pt idx="11">
                  <c:v>1.54005291005291E-2</c:v>
                </c:pt>
                <c:pt idx="12">
                  <c:v>1.42359788359788E-2</c:v>
                </c:pt>
                <c:pt idx="13">
                  <c:v>1.28026455026455E-2</c:v>
                </c:pt>
                <c:pt idx="14">
                  <c:v>9.1571428571428706E-3</c:v>
                </c:pt>
                <c:pt idx="15">
                  <c:v>6.3407407407407397E-3</c:v>
                </c:pt>
                <c:pt idx="16">
                  <c:v>3.4497354497354501E-3</c:v>
                </c:pt>
                <c:pt idx="17" formatCode="####.000">
                  <c:v>2.6560846560846402E-4</c:v>
                </c:pt>
                <c:pt idx="18">
                  <c:v>-2.96560846560846E-3</c:v>
                </c:pt>
                <c:pt idx="19">
                  <c:v>-5.8095238095238104E-3</c:v>
                </c:pt>
                <c:pt idx="20">
                  <c:v>-9.0386243386243407E-3</c:v>
                </c:pt>
                <c:pt idx="21">
                  <c:v>-1.2273015873015901E-2</c:v>
                </c:pt>
                <c:pt idx="22">
                  <c:v>-1.73195767195767E-2</c:v>
                </c:pt>
                <c:pt idx="23">
                  <c:v>-2.26476190476191E-2</c:v>
                </c:pt>
                <c:pt idx="24">
                  <c:v>-3.0059788359788401E-2</c:v>
                </c:pt>
                <c:pt idx="25">
                  <c:v>-3.7585714285714299E-2</c:v>
                </c:pt>
                <c:pt idx="26">
                  <c:v>-4.6408994708994698E-2</c:v>
                </c:pt>
                <c:pt idx="27">
                  <c:v>-5.7065079365079402E-2</c:v>
                </c:pt>
                <c:pt idx="28">
                  <c:v>-6.6236507936507996E-2</c:v>
                </c:pt>
                <c:pt idx="29">
                  <c:v>-6.9161904761904799E-2</c:v>
                </c:pt>
                <c:pt idx="30">
                  <c:v>-6.8543386243386295E-2</c:v>
                </c:pt>
                <c:pt idx="31">
                  <c:v>-6.4370370370370397E-2</c:v>
                </c:pt>
                <c:pt idx="32">
                  <c:v>-5.82597883597884E-2</c:v>
                </c:pt>
                <c:pt idx="33">
                  <c:v>-5.28E-2</c:v>
                </c:pt>
                <c:pt idx="34">
                  <c:v>-4.9269841269841297E-2</c:v>
                </c:pt>
                <c:pt idx="35">
                  <c:v>-4.8422751322751298E-2</c:v>
                </c:pt>
                <c:pt idx="36">
                  <c:v>-5.7693650793650797E-2</c:v>
                </c:pt>
                <c:pt idx="37">
                  <c:v>-6.9299470899470902E-2</c:v>
                </c:pt>
                <c:pt idx="38">
                  <c:v>-7.9952380952380997E-2</c:v>
                </c:pt>
                <c:pt idx="39">
                  <c:v>-8.9067195767195795E-2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05-4008-A3B8-1F0E8E408BAA}"/>
            </c:ext>
          </c:extLst>
        </c:ser>
        <c:ser>
          <c:idx val="1"/>
          <c:order val="1"/>
          <c:spPr>
            <a:ln w="38100">
              <a:solidFill>
                <a:srgbClr val="C00000"/>
              </a:solidFill>
            </a:ln>
          </c:spPr>
          <c:marker>
            <c:symbol val="none"/>
          </c:marker>
          <c:val>
            <c:numRef>
              <c:f>Sheet1!$E$42:$E$81</c:f>
              <c:numCache>
                <c:formatCode>####.000</c:formatCode>
                <c:ptCount val="40"/>
                <c:pt idx="0" formatCode="###0.000">
                  <c:v>0</c:v>
                </c:pt>
                <c:pt idx="1">
                  <c:v>4.6137566137566201E-4</c:v>
                </c:pt>
                <c:pt idx="2">
                  <c:v>-1.06878306878307E-4</c:v>
                </c:pt>
                <c:pt idx="3">
                  <c:v>3.7460317460317598E-4</c:v>
                </c:pt>
                <c:pt idx="4" formatCode="###0.000">
                  <c:v>2.3275132275132298E-3</c:v>
                </c:pt>
                <c:pt idx="5" formatCode="###0.000">
                  <c:v>3.6513227513227599E-3</c:v>
                </c:pt>
                <c:pt idx="6" formatCode="###0.000">
                  <c:v>4.85978835978836E-3</c:v>
                </c:pt>
                <c:pt idx="7" formatCode="###0.000">
                  <c:v>5.1714285714285699E-3</c:v>
                </c:pt>
                <c:pt idx="8" formatCode="###0.000">
                  <c:v>5.0640211640211701E-3</c:v>
                </c:pt>
                <c:pt idx="9" formatCode="###0.000">
                  <c:v>4.3455026455026498E-3</c:v>
                </c:pt>
                <c:pt idx="10" formatCode="###0.000">
                  <c:v>2.6126984126984098E-3</c:v>
                </c:pt>
                <c:pt idx="11" formatCode="###0.000">
                  <c:v>2.51164021164021E-3</c:v>
                </c:pt>
                <c:pt idx="12" formatCode="###0.000">
                  <c:v>2.4566137566137602E-3</c:v>
                </c:pt>
                <c:pt idx="13" formatCode="###0.000">
                  <c:v>2.4253968253968301E-3</c:v>
                </c:pt>
                <c:pt idx="14" formatCode="###0.000">
                  <c:v>2.2333333333333298E-3</c:v>
                </c:pt>
                <c:pt idx="15" formatCode="###0.000">
                  <c:v>3.36296296296296E-3</c:v>
                </c:pt>
                <c:pt idx="16" formatCode="###0.000">
                  <c:v>4.8910052910052897E-3</c:v>
                </c:pt>
                <c:pt idx="17" formatCode="###0.000">
                  <c:v>7.1349206349206398E-3</c:v>
                </c:pt>
                <c:pt idx="18" formatCode="###0.000">
                  <c:v>8.7359788359788297E-3</c:v>
                </c:pt>
                <c:pt idx="19" formatCode="###0.000">
                  <c:v>1.19015873015873E-2</c:v>
                </c:pt>
                <c:pt idx="20" formatCode="###0.000">
                  <c:v>1.40100529100529E-2</c:v>
                </c:pt>
                <c:pt idx="21" formatCode="###0.000">
                  <c:v>1.68873015873016E-2</c:v>
                </c:pt>
                <c:pt idx="22" formatCode="###0.000">
                  <c:v>1.8874074074074099E-2</c:v>
                </c:pt>
                <c:pt idx="23" formatCode="###0.000">
                  <c:v>2.10756613756614E-2</c:v>
                </c:pt>
                <c:pt idx="24" formatCode="###0.000">
                  <c:v>2.25280423280423E-2</c:v>
                </c:pt>
                <c:pt idx="25" formatCode="###0.000">
                  <c:v>2.4913227513227498E-2</c:v>
                </c:pt>
                <c:pt idx="26" formatCode="###0.000">
                  <c:v>2.7184126984127002E-2</c:v>
                </c:pt>
                <c:pt idx="27" formatCode="###0.000">
                  <c:v>2.9758730158730099E-2</c:v>
                </c:pt>
                <c:pt idx="28" formatCode="###0.000">
                  <c:v>3.5448148148148097E-2</c:v>
                </c:pt>
                <c:pt idx="29" formatCode="###0.000">
                  <c:v>4.4350793650793703E-2</c:v>
                </c:pt>
                <c:pt idx="30" formatCode="###0.000">
                  <c:v>5.64740740740741E-2</c:v>
                </c:pt>
                <c:pt idx="31" formatCode="###0.000">
                  <c:v>7.01169312169313E-2</c:v>
                </c:pt>
                <c:pt idx="32" formatCode="###0.000">
                  <c:v>8.2803174603174601E-2</c:v>
                </c:pt>
                <c:pt idx="33" formatCode="###0.000">
                  <c:v>9.2271428571428601E-2</c:v>
                </c:pt>
                <c:pt idx="34" formatCode="###0.000">
                  <c:v>9.8434391534391597E-2</c:v>
                </c:pt>
                <c:pt idx="35" formatCode="###0.000">
                  <c:v>9.7583597883597897E-2</c:v>
                </c:pt>
                <c:pt idx="36" formatCode="###0.000">
                  <c:v>9.0050264550264603E-2</c:v>
                </c:pt>
                <c:pt idx="37" formatCode="###0.000">
                  <c:v>7.9091005291005295E-2</c:v>
                </c:pt>
                <c:pt idx="38" formatCode="###0.000">
                  <c:v>6.7084126984126996E-2</c:v>
                </c:pt>
                <c:pt idx="39" formatCode="###0.000">
                  <c:v>5.4844444444444501E-2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05-4008-A3B8-1F0E8E408BAA}"/>
            </c:ext>
          </c:extLst>
        </c:ser>
        <c:ser>
          <c:idx val="2"/>
          <c:order val="2"/>
          <c:spPr>
            <a:ln w="38100">
              <a:solidFill>
                <a:srgbClr val="FFC000"/>
              </a:solidFill>
            </a:ln>
          </c:spPr>
          <c:marker>
            <c:symbol val="none"/>
          </c:marker>
          <c:val>
            <c:numRef>
              <c:f>Sheet1!$F$42:$F$81</c:f>
              <c:numCache>
                <c:formatCode>####.000</c:formatCode>
                <c:ptCount val="40"/>
                <c:pt idx="0" formatCode="###0.000">
                  <c:v>0</c:v>
                </c:pt>
                <c:pt idx="1">
                  <c:v>4.5026455026454999E-4</c:v>
                </c:pt>
                <c:pt idx="2" formatCode="###0.000">
                  <c:v>1.56931216931217E-3</c:v>
                </c:pt>
                <c:pt idx="3" formatCode="###0.000">
                  <c:v>1.5793650793650799E-3</c:v>
                </c:pt>
                <c:pt idx="4" formatCode="###0.000">
                  <c:v>1.77883597883598E-3</c:v>
                </c:pt>
                <c:pt idx="5">
                  <c:v>7.0105820105820097E-4</c:v>
                </c:pt>
                <c:pt idx="6">
                  <c:v>-8.8201058201058103E-4</c:v>
                </c:pt>
                <c:pt idx="7" formatCode="###0.000">
                  <c:v>-3.6719576719576701E-3</c:v>
                </c:pt>
                <c:pt idx="8" formatCode="###0.000">
                  <c:v>-5.5153439153439203E-3</c:v>
                </c:pt>
                <c:pt idx="9" formatCode="###0.000">
                  <c:v>-8.2973544973544908E-3</c:v>
                </c:pt>
                <c:pt idx="10" formatCode="###0.000">
                  <c:v>-1.14830687830688E-2</c:v>
                </c:pt>
                <c:pt idx="11" formatCode="###0.000">
                  <c:v>-1.48698412698413E-2</c:v>
                </c:pt>
                <c:pt idx="12" formatCode="###0.000">
                  <c:v>-1.77518518518518E-2</c:v>
                </c:pt>
                <c:pt idx="13" formatCode="###0.000">
                  <c:v>-1.9750264550264501E-2</c:v>
                </c:pt>
                <c:pt idx="14" formatCode="###0.000">
                  <c:v>-2.1985185185185201E-2</c:v>
                </c:pt>
                <c:pt idx="15" formatCode="###0.000">
                  <c:v>-2.36291005291006E-2</c:v>
                </c:pt>
                <c:pt idx="16" formatCode="###0.000">
                  <c:v>-2.5715873015873001E-2</c:v>
                </c:pt>
                <c:pt idx="17" formatCode="###0.000">
                  <c:v>-2.7195238095238099E-2</c:v>
                </c:pt>
                <c:pt idx="18" formatCode="###0.000">
                  <c:v>-2.7626455026454999E-2</c:v>
                </c:pt>
                <c:pt idx="19" formatCode="###0.000">
                  <c:v>-2.8901058201058202E-2</c:v>
                </c:pt>
                <c:pt idx="20" formatCode="###0.000">
                  <c:v>-3.0049206349206398E-2</c:v>
                </c:pt>
                <c:pt idx="21" formatCode="###0.000">
                  <c:v>-3.01089947089947E-2</c:v>
                </c:pt>
                <c:pt idx="22" formatCode="###0.000">
                  <c:v>-2.8997883597883599E-2</c:v>
                </c:pt>
                <c:pt idx="23" formatCode="###0.000">
                  <c:v>-2.83222222222222E-2</c:v>
                </c:pt>
                <c:pt idx="24" formatCode="###0.000">
                  <c:v>-2.7398941798941801E-2</c:v>
                </c:pt>
                <c:pt idx="25" formatCode="###0.000">
                  <c:v>-2.6653968253968301E-2</c:v>
                </c:pt>
                <c:pt idx="26" formatCode="###0.000">
                  <c:v>-2.45708994708995E-2</c:v>
                </c:pt>
                <c:pt idx="27" formatCode="###0.000">
                  <c:v>-2.1041269841269899E-2</c:v>
                </c:pt>
                <c:pt idx="28" formatCode="###0.000">
                  <c:v>-1.5892063492063499E-2</c:v>
                </c:pt>
                <c:pt idx="29" formatCode="###0.000">
                  <c:v>-7.9761904761904805E-3</c:v>
                </c:pt>
                <c:pt idx="30" formatCode="###0.000">
                  <c:v>1.7703703703703701E-3</c:v>
                </c:pt>
                <c:pt idx="31" formatCode="###0.000">
                  <c:v>1.39619047619048E-2</c:v>
                </c:pt>
                <c:pt idx="32" formatCode="###0.000">
                  <c:v>2.5814285714285699E-2</c:v>
                </c:pt>
                <c:pt idx="33" formatCode="###0.000">
                  <c:v>3.8117989417989398E-2</c:v>
                </c:pt>
                <c:pt idx="34" formatCode="###0.000">
                  <c:v>4.4097354497354503E-2</c:v>
                </c:pt>
                <c:pt idx="35" formatCode="###0.000">
                  <c:v>4.2784126984127001E-2</c:v>
                </c:pt>
                <c:pt idx="36" formatCode="###0.000">
                  <c:v>3.4898941798941797E-2</c:v>
                </c:pt>
                <c:pt idx="37" formatCode="###0.000">
                  <c:v>2.4726455026454999E-2</c:v>
                </c:pt>
                <c:pt idx="38" formatCode="###0.000">
                  <c:v>1.6973544973545002E-2</c:v>
                </c:pt>
                <c:pt idx="39" formatCode="###0.000">
                  <c:v>1.0910582010582001E-2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05-4008-A3B8-1F0E8E408B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93921504"/>
        <c:axId val="-200932208"/>
      </c:lineChart>
      <c:catAx>
        <c:axId val="-19392150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 baseline="0"/>
            </a:pPr>
            <a:endParaRPr lang="en-US"/>
          </a:p>
        </c:txPr>
        <c:crossAx val="-200932208"/>
        <c:crossesAt val="-0.1"/>
        <c:auto val="1"/>
        <c:lblAlgn val="ctr"/>
        <c:lblOffset val="100"/>
        <c:noMultiLvlLbl val="0"/>
      </c:catAx>
      <c:valAx>
        <c:axId val="-200932208"/>
        <c:scaling>
          <c:orientation val="minMax"/>
        </c:scaling>
        <c:delete val="0"/>
        <c:axPos val="l"/>
        <c:numFmt formatCode=".00" sourceLinked="0"/>
        <c:majorTickMark val="out"/>
        <c:minorTickMark val="none"/>
        <c:tickLblPos val="nextTo"/>
        <c:txPr>
          <a:bodyPr/>
          <a:lstStyle/>
          <a:p>
            <a:pPr>
              <a:defRPr sz="800" baseline="0"/>
            </a:pPr>
            <a:endParaRPr lang="en-US"/>
          </a:p>
        </c:txPr>
        <c:crossAx val="-193921504"/>
        <c:crosses val="autoZero"/>
        <c:crossBetween val="between"/>
      </c:valAx>
      <c:spPr>
        <a:solidFill>
          <a:schemeClr val="bg1">
            <a:lumMod val="85000"/>
          </a:schemeClr>
        </a:solidFill>
        <a:ln>
          <a:solidFill>
            <a:srgbClr val="000000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94BE5A-B738-804E-B98B-2AAF91A011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54E90-EE22-0540-9C23-29C0960034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07024-251A-E843-B4E4-B75A9F851CF8}" type="datetimeFigureOut">
              <a:rPr lang="en-US" smtClean="0"/>
              <a:t>4/8/18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36BA5-FEAC-3C43-A6B1-F6555B3212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B5C59-6A27-9043-A6E3-5D47CDAD21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61000-C166-3746-B39C-EB410EE6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59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C1C96-3423-9942-86B8-2956ABB749F5}" type="datetimeFigureOut">
              <a:rPr lang="es-ES_tradnl" smtClean="0"/>
              <a:t>8/4/18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1C747-7AD7-BB41-986F-F53F9FFBAA6C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3053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cover these 5 areas in discussing today’s deception detection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5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Determining deception and credibility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very different issues. At the heart of a lie is the intention to be deceptive.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46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many methods to be deceptive. At the heart of these methods is the intention to be deceptive.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Fabricate – invent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Falsification – changing facts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Half-truth – mixture of truth and falsehood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Exaggerate – aggrandizement of fact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Mislead – intentional redirection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81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dirty="0"/>
              <a:t>Self-serving liar </a:t>
            </a:r>
            <a:r>
              <a:rPr lang="en-US" sz="2800" dirty="0"/>
              <a:t>- very common; </a:t>
            </a:r>
            <a:r>
              <a:rPr lang="en-US" sz="2400" dirty="0"/>
              <a:t>get something wanted; examples: Criminal, con artist, politician, sales people</a:t>
            </a:r>
          </a:p>
          <a:p>
            <a:r>
              <a:rPr lang="en-US" sz="2800" b="1" dirty="0"/>
              <a:t>Pathological liar</a:t>
            </a:r>
            <a:r>
              <a:rPr lang="en-US" sz="2800" dirty="0"/>
              <a:t> – very persuasive; </a:t>
            </a:r>
            <a:r>
              <a:rPr lang="en-US" sz="2400" dirty="0"/>
              <a:t>get something wanted w/o concern for others; manipulative, charming, cunning, self-centered</a:t>
            </a:r>
          </a:p>
          <a:p>
            <a:r>
              <a:rPr lang="en-US" sz="2800" b="1" dirty="0"/>
              <a:t>Compulsive liar</a:t>
            </a:r>
            <a:r>
              <a:rPr lang="en-US" sz="2800" dirty="0"/>
              <a:t> – habitual: </a:t>
            </a:r>
            <a:r>
              <a:rPr lang="en-US" sz="2400" dirty="0"/>
              <a:t>lying is a habit</a:t>
            </a:r>
            <a:endParaRPr lang="en-US" dirty="0"/>
          </a:p>
          <a:p>
            <a:r>
              <a:rPr lang="en-US" sz="2800" b="1" dirty="0" err="1"/>
              <a:t>Disassociative</a:t>
            </a:r>
            <a:r>
              <a:rPr lang="en-US" sz="2800" b="1" dirty="0"/>
              <a:t> liar</a:t>
            </a:r>
            <a:r>
              <a:rPr lang="en-US" sz="2800" dirty="0"/>
              <a:t> – departure from reality; </a:t>
            </a:r>
            <a:r>
              <a:rPr lang="en-US" sz="2400" dirty="0"/>
              <a:t>contradict the truth, facts or previous statements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8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physiological changes when a subject 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19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Event-specific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tests are common for crime investigation, but are administered infrequently.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Pre-employment,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a category, are the most common type of lie detection tests given today.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70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Lie detection techniques we will discuss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82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categorize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today’s screening and lie detection techniques into two general categories: predict future behavior or identify past behavior.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64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if you have a field-tested expert, that solution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cannot scale.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21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if you have a field-tested expert, that solution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cannot scale.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11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71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D567A-F420-014F-9EA1-F1FDFD5DAD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 between test results and the independent measures of the behavior in question.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only measure that had a reasonable correlation was self report of counterproductive work behavior (but see contrast with actual employee records).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results indicate that the tests are very poor predictors.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D567A-F420-014F-9EA1-F1FDFD5DADE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3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47905-309F-4638-9E41-44378A8C5CC6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6260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Developed in the 1920’s &amp; adopted by the FBI in 1939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52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49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14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Event-specific accuracy depends on the examiner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908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6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61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58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755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27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0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940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816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 number of research papers were published years ago on </a:t>
            </a:r>
            <a:r>
              <a:rPr lang="en-US" sz="1200" b="1" dirty="0"/>
              <a:t>electroencephalograms </a:t>
            </a:r>
            <a:r>
              <a:rPr lang="en-US" sz="1200" dirty="0"/>
              <a:t>that claimed to have achieved results of </a:t>
            </a:r>
            <a:r>
              <a:rPr lang="en-US" sz="1200" b="1" dirty="0"/>
              <a:t>87% </a:t>
            </a:r>
            <a:r>
              <a:rPr lang="en-US" sz="1200" dirty="0"/>
              <a:t>accuracy (i.e., they could accurately predict if a person was lying 87% of the time) using electrical activity at the surface of the brain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349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sz="1200" dirty="0"/>
              <a:t>Uses powerful magnets to charge hydrogen protons within cells.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A radio frequency is broadcast by these protons, which absorb the frequency and reflect it back at a receiver. 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This information is translated into an image of the area scanned.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364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Creates a map of pattern vectors associated with specific cognitive states. </a:t>
            </a:r>
          </a:p>
          <a:p>
            <a:r>
              <a:rPr lang="en-US" dirty="0"/>
              <a:t>A radiologist predicts a cognitive state by observing these complex patterns. </a:t>
            </a:r>
          </a:p>
          <a:p>
            <a:r>
              <a:rPr lang="en-US" dirty="0"/>
              <a:t>The radiologist looks at changes in whole-brain patterns and predicts the cognitive state the brain is experiencing. </a:t>
            </a:r>
            <a:endParaRPr lang="en-US" sz="1400" dirty="0"/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045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Although it can be highly accurate, it’s costly to administer.</a:t>
            </a:r>
          </a:p>
          <a:p>
            <a:r>
              <a:rPr lang="en-US" dirty="0"/>
              <a:t>Testing works best when analyzing a pool of subjects, not individuals.</a:t>
            </a:r>
          </a:p>
          <a:p>
            <a:r>
              <a:rPr lang="en-US" dirty="0"/>
              <a:t>There is no industry standardization yet.</a:t>
            </a:r>
          </a:p>
          <a:p>
            <a:r>
              <a:rPr lang="en-US" dirty="0"/>
              <a:t>It’s not certain if evasive countermeasures can be used.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111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148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813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</a:t>
            </a:r>
          </a:p>
          <a:p>
            <a:r>
              <a:rPr lang="en-US" dirty="0"/>
              <a:t>Conducted while subject is reading, this test scans the eyes to detect subtle changes in eye movement, pupil dilation, eye fixations, and more.</a:t>
            </a:r>
          </a:p>
          <a:p>
            <a:r>
              <a:rPr lang="en-US" dirty="0"/>
              <a:t>Measures cognitive workload.</a:t>
            </a:r>
          </a:p>
          <a:p>
            <a:r>
              <a:rPr lang="en-US" dirty="0"/>
              <a:t>Monitors involuntary deception cues.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Source: Journal of Experimental Psychology: Applied </a:t>
            </a:r>
            <a:endParaRPr lang="en-US" sz="10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216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Our Objective</a:t>
            </a:r>
            <a:r>
              <a:rPr lang="en-US" sz="1200" dirty="0"/>
              <a:t>: Validate the precision of  the EyeDetect technology for the Mexican population.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study proved EyeDetect was 85% accurate. [EXPLAIN THE 2 CHARTS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BRIEFLY]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anticipate the accuracy rate to be even higher — like in the 90 percentile —when the consequences of detection are greater.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471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</a:t>
            </a:r>
          </a:p>
          <a:p>
            <a:r>
              <a:rPr lang="en-US" dirty="0"/>
              <a:t>Conducted while subject is reading, this test scans the eyes to detect subtle changes in eye movement, pupil dilation, eye fixations, and more.</a:t>
            </a:r>
          </a:p>
          <a:p>
            <a:r>
              <a:rPr lang="en-US" dirty="0"/>
              <a:t>Measures cognitive workload.</a:t>
            </a:r>
          </a:p>
          <a:p>
            <a:r>
              <a:rPr lang="en-US" dirty="0"/>
              <a:t>Monitors involuntary deception cues.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Source: Journal of Experimental Psychology: Applied </a:t>
            </a:r>
            <a:endParaRPr lang="en-US" sz="10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035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latest in deception detection technology, ocular-motor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deception testing.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110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Sixteen eye characteristics are measured </a:t>
            </a:r>
          </a:p>
          <a:p>
            <a:r>
              <a:rPr lang="en-US" sz="1200" dirty="0"/>
              <a:t>High-speed optical camera takes 60 photos/second.</a:t>
            </a:r>
          </a:p>
          <a:p>
            <a:r>
              <a:rPr lang="en-US" sz="1200" dirty="0"/>
              <a:t>Responses to questions are recorded and averaged to improve signal-to-noise ratio.</a:t>
            </a:r>
          </a:p>
          <a:p>
            <a:r>
              <a:rPr lang="en-US" sz="1200" dirty="0"/>
              <a:t>A complex algorithm is used to correlate and score the changes in eye response to Relevant and Neutral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FE7B7-68C5-4578-8C88-C7614D05BCA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33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791B903-E88A-4A4E-BFAA-5DB3A0017375}"/>
              </a:ext>
            </a:extLst>
          </p:cNvPr>
          <p:cNvSpPr/>
          <p:nvPr userDrawn="1"/>
        </p:nvSpPr>
        <p:spPr>
          <a:xfrm>
            <a:off x="704963" y="3429000"/>
            <a:ext cx="4167793" cy="45719"/>
          </a:xfrm>
          <a:prstGeom prst="rect">
            <a:avLst/>
          </a:prstGeom>
          <a:solidFill>
            <a:srgbClr val="019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C67A3A-03F8-443A-8BD6-393E7E47DE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260" y="0"/>
            <a:ext cx="6682740" cy="6858000"/>
          </a:xfrm>
          <a:prstGeom prst="rect">
            <a:avLst/>
          </a:prstGeom>
        </p:spPr>
      </p:pic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480EADD-E068-4CF5-8F50-CA31420DF37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06056" y="4704819"/>
            <a:ext cx="5199551" cy="613458"/>
          </a:xfrm>
        </p:spPr>
        <p:txBody>
          <a:bodyPr>
            <a:normAutofit/>
          </a:bodyPr>
          <a:lstStyle>
            <a:lvl1pPr marL="0" indent="0">
              <a:buNone/>
              <a:defRPr sz="2400" b="0" baseline="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0480EADD-E068-4CF5-8F50-CA31420DF37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06056" y="5474680"/>
            <a:ext cx="5199551" cy="613458"/>
          </a:xfrm>
        </p:spPr>
        <p:txBody>
          <a:bodyPr/>
          <a:lstStyle>
            <a:lvl1pPr marL="0" indent="0">
              <a:buNone/>
              <a:defRPr b="0" baseline="0"/>
            </a:lvl1pPr>
          </a:lstStyle>
          <a:p>
            <a:pPr lvl="0"/>
            <a:r>
              <a:rPr lang="en-US" dirty="0"/>
              <a:t>Name/title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0480EADD-E068-4CF5-8F50-CA31420DF37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06056" y="2291788"/>
            <a:ext cx="5199551" cy="1137212"/>
          </a:xfrm>
        </p:spPr>
        <p:txBody>
          <a:bodyPr>
            <a:normAutofit/>
          </a:bodyPr>
          <a:lstStyle>
            <a:lvl1pPr marL="0" indent="0">
              <a:buNone/>
              <a:defRPr sz="3200" b="0" baseline="0"/>
            </a:lvl1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86020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2467384"/>
            <a:ext cx="10515600" cy="1085713"/>
          </a:xfrm>
          <a:solidFill>
            <a:srgbClr val="0094CB"/>
          </a:solidFill>
        </p:spPr>
        <p:txBody>
          <a:bodyPr anchor="ctr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4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05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1060602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DE277-932E-4493-9DA2-889EFA9ACA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7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63843D-E9F1-49C7-8FFD-10D072AC08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480EADD-E068-4CF5-8F50-CA31420DF37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9377" y="1411649"/>
            <a:ext cx="11114313" cy="47670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1060602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14190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9B492-9921-4380-8055-DA7498E880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9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 flipH="1">
            <a:off x="7707855" y="0"/>
            <a:ext cx="4458017" cy="6531428"/>
          </a:xfrm>
          <a:prstGeom prst="parallelogram">
            <a:avLst>
              <a:gd name="adj" fmla="val 3037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Picture: To edit the shape, click clop and then move the yellow circle bordering the image (this adjusts the angle).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91DA19-6F0E-4F8F-9068-3CA5DF296D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3954BBD-E2B7-4D1F-B356-E30FE2B6DF3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9378" y="1381851"/>
            <a:ext cx="7443651" cy="48360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7248477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248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ictu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7932109" y="-2811"/>
            <a:ext cx="4227677" cy="6534239"/>
          </a:xfrm>
          <a:prstGeom prst="parallelogram">
            <a:avLst>
              <a:gd name="adj" fmla="val 30370"/>
            </a:avLst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4CB"/>
              </a:buClr>
              <a:buSzPct val="60000"/>
              <a:buFont typeface="Wingdings 3" panose="05040102010807070707" pitchFamily="18" charset="2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4CB"/>
              </a:buClr>
              <a:buSzPct val="60000"/>
              <a:buFont typeface="Wingdings 3" panose="05040102010807070707" pitchFamily="18" charset="2"/>
              <a:buNone/>
              <a:tabLst/>
              <a:defRPr/>
            </a:pPr>
            <a:r>
              <a:rPr lang="en-US" dirty="0"/>
              <a:t>Picture: To edit the shape, click clop and then move the yellow circle bordering the image (this adjusts the angle).</a:t>
            </a:r>
          </a:p>
          <a:p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74F5B7-E1F0-462F-94A6-CA0145458E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740B2A1-5556-430B-8AF4-451B5B2E219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9378" y="1411649"/>
            <a:ext cx="7472731" cy="45711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8476278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7207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27138"/>
            <a:ext cx="12192000" cy="19478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CBC041-33A6-4993-BC72-B7B6B7FB6D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99F9EF0-A25A-4BCA-8B9E-17D4463E1DE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588224" y="3543312"/>
            <a:ext cx="8856617" cy="26198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1060602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605610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929563" y="1"/>
            <a:ext cx="4262437" cy="65314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2390FE-A094-409F-81F9-B90E8F5184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5E833BB-EA7F-4882-A118-88F34C6D9FE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9377" y="1273679"/>
            <a:ext cx="7292551" cy="51009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729255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81695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&amp; Side Pictur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940526" y="1521330"/>
            <a:ext cx="10058400" cy="85945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5132328" y="2582555"/>
            <a:ext cx="2165841" cy="0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F5C1F6-392A-407E-980A-FC31981E3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09EADC7-20DC-48FF-B74D-2ED932E08AB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40526" y="2906536"/>
            <a:ext cx="10058400" cy="34231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1060602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95607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, 2 Text, &amp; Side Pictur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796834" y="1494068"/>
            <a:ext cx="10319657" cy="85945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4858008" y="2555293"/>
            <a:ext cx="2165841" cy="0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546F20-368E-4147-AAB4-34FB5C3B04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4B756EA-A140-46CB-8A3C-1B61E7136BB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6834" y="2906536"/>
            <a:ext cx="5016137" cy="34231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DD820B7-62C8-42AE-B1B4-04C37CD70C0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00354" y="2906536"/>
            <a:ext cx="5016137" cy="34231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1060602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87598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399382" y="2063750"/>
            <a:ext cx="9393237" cy="310991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789FC0-B39A-4F38-8EFB-64D6EEA1CA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1060602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5840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384940" y="1586842"/>
            <a:ext cx="9393237" cy="535486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37EB76-4A27-4250-B071-F92F0366B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1F293CA-B5F2-497C-82B4-DCB656F9A22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84939" y="2329316"/>
            <a:ext cx="9393237" cy="395391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1060602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763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365251"/>
            <a:ext cx="4895518" cy="559084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Comparison 1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664658" y="1365251"/>
            <a:ext cx="4895518" cy="559084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Comparison 2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6096000" y="1481432"/>
            <a:ext cx="0" cy="4509935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E7E0D5-5988-452F-86AB-F961DB1CF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5E403-0EBB-441F-BAA5-03DA2D0CC7F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1825" y="2116138"/>
            <a:ext cx="4895850" cy="42021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F7116EC-ED7E-4841-B12C-066ECD8F042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677840" y="2126825"/>
            <a:ext cx="4895850" cy="42021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1060602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87881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(no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365251"/>
            <a:ext cx="5181146" cy="559084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Comparison 1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377923" y="1365251"/>
            <a:ext cx="5182253" cy="559084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Comparison 2</a:t>
            </a:r>
          </a:p>
        </p:txBody>
      </p:sp>
      <p:sp>
        <p:nvSpPr>
          <p:cNvPr id="14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11FF5D-35C9-4C08-BD5C-FFE7AB94C6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9E1C8A5-AFD5-43CA-8484-D67B0EBF9F1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1825" y="2116138"/>
            <a:ext cx="5181146" cy="42021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0BBB463-6722-47ED-9A81-A38479B8E6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14970" y="2137513"/>
            <a:ext cx="5181146" cy="42021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9378" y="312874"/>
            <a:ext cx="10606020" cy="70602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4796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53142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8DC76-13D2-426A-AADD-B6B0A328E3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61" y="6561226"/>
            <a:ext cx="1271313" cy="2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3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106139" y="2579688"/>
            <a:ext cx="7979723" cy="1541936"/>
          </a:xfrm>
        </p:spPr>
        <p:txBody>
          <a:bodyPr>
            <a:normAutofit/>
          </a:bodyPr>
          <a:lstStyle>
            <a:lvl1pPr marL="0" indent="0" algn="ctr">
              <a:buNone/>
              <a:defRPr sz="9600">
                <a:solidFill>
                  <a:srgbClr val="0094CB"/>
                </a:solidFill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531428"/>
            <a:ext cx="12192000" cy="326572"/>
          </a:xfrm>
          <a:prstGeom prst="rect">
            <a:avLst/>
          </a:prstGeom>
          <a:solidFill>
            <a:srgbClr val="0094CB"/>
          </a:solidFill>
          <a:ln w="12700" cap="flat" cmpd="sng" algn="ctr">
            <a:solidFill>
              <a:srgbClr val="0093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>
          <a:xfrm>
            <a:off x="11353800" y="543274"/>
            <a:ext cx="484632" cy="484632"/>
          </a:xfrm>
          <a:prstGeom prst="rect">
            <a:avLst/>
          </a:prstGeom>
          <a:solidFill>
            <a:srgbClr val="0093CB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FFFFFF"/>
                </a:solidFill>
                <a:latin typeface="Avenir Light"/>
                <a:ea typeface="+mn-ea"/>
                <a:cs typeface="Avenir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E5920F3-2EF8-534D-8C46-7A1DA6A3C953}" type="slidenum">
              <a:rPr lang="en-US" sz="1800" b="1" smtClean="0">
                <a:solidFill>
                  <a:schemeClr val="bg1"/>
                </a:solidFill>
                <a:latin typeface="Gill Sans SemiBold" charset="0"/>
                <a:ea typeface="Gill Sans SemiBold" charset="0"/>
                <a:cs typeface="Gill Sans SemiBold" charset="0"/>
              </a:rPr>
              <a:pPr algn="ctr"/>
              <a:t>‹#›</a:t>
            </a:fld>
            <a:endParaRPr lang="en-US" sz="1800" b="1" dirty="0">
              <a:solidFill>
                <a:schemeClr val="bg1"/>
              </a:solidFill>
              <a:latin typeface="Gill Sans SemiBold" charset="0"/>
              <a:ea typeface="Gill Sans SemiBold" charset="0"/>
              <a:cs typeface="Gill Sans SemiBol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B3512F-AF02-42CB-9E1C-121110E837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976" y="4242621"/>
            <a:ext cx="4168048" cy="87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9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0FAD1B3-5610-4DE2-861C-F0631A8221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5450" y="0"/>
            <a:ext cx="668655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302A70-6D67-445D-B191-E95A8E5637B3}"/>
              </a:ext>
            </a:extLst>
          </p:cNvPr>
          <p:cNvSpPr/>
          <p:nvPr userDrawn="1"/>
        </p:nvSpPr>
        <p:spPr>
          <a:xfrm>
            <a:off x="346149" y="3998843"/>
            <a:ext cx="4167793" cy="45719"/>
          </a:xfrm>
          <a:prstGeom prst="rect">
            <a:avLst/>
          </a:prstGeom>
          <a:solidFill>
            <a:srgbClr val="019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A7B3B7-1F5D-4AFE-8617-AFA79589E66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46149" y="6307499"/>
            <a:ext cx="5349875" cy="371475"/>
          </a:xfrm>
        </p:spPr>
        <p:txBody>
          <a:bodyPr>
            <a:normAutofit/>
          </a:bodyPr>
          <a:lstStyle>
            <a:lvl1pPr marL="0" indent="0">
              <a:buNone/>
              <a:defRPr sz="1600" spc="300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DDA53132-CFA5-40A6-AC40-12FA5C09D8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6149" y="5298790"/>
            <a:ext cx="5789212" cy="371475"/>
          </a:xfrm>
        </p:spPr>
        <p:txBody>
          <a:bodyPr>
            <a:normAutofit/>
          </a:bodyPr>
          <a:lstStyle>
            <a:lvl1pPr marL="0" indent="0">
              <a:buNone/>
              <a:defRPr sz="2000" spc="30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F9D3921A-E345-45DA-8699-8132DF1711A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46149" y="4170628"/>
            <a:ext cx="6082786" cy="823403"/>
          </a:xfrm>
        </p:spPr>
        <p:txBody>
          <a:bodyPr>
            <a:normAutofit/>
          </a:bodyPr>
          <a:lstStyle>
            <a:lvl1pPr marL="0" indent="0">
              <a:buNone/>
              <a:defRPr sz="2400" spc="300"/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31803489-45CF-48E8-8B91-E7D05247F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149" y="2479841"/>
            <a:ext cx="6558124" cy="1627754"/>
          </a:xfrm>
        </p:spPr>
        <p:txBody>
          <a:bodyPr wrap="square" anchor="ctr" anchorCtr="0"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6FAD19-EDDF-47C4-BEA0-ED01B895D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3745" y="656810"/>
            <a:ext cx="3994019" cy="100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2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9378" y="312874"/>
            <a:ext cx="10663894" cy="7060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9377" y="1227909"/>
            <a:ext cx="10663895" cy="4949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3944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7" r:id="rId15"/>
    <p:sldLayoutId id="2147483694" r:id="rId16"/>
    <p:sldLayoutId id="2147483696" r:id="rId17"/>
    <p:sldLayoutId id="2147483698" r:id="rId1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>
              <a:lumMod val="95000"/>
              <a:lumOff val="5000"/>
            </a:schemeClr>
          </a:solidFill>
          <a:latin typeface="Gill Sans SemiBold" charset="0"/>
          <a:ea typeface="Gill Sans SemiBold" charset="0"/>
          <a:cs typeface="Gill Sans SemiBold" charset="0"/>
        </a:defRPr>
      </a:lvl1pPr>
    </p:titleStyle>
    <p:bodyStyle>
      <a:lvl1pPr marL="287338" indent="-287338" algn="l" defTabSz="914400" rtl="0" eaLnBrk="1" latinLnBrk="0" hangingPunct="1">
        <a:lnSpc>
          <a:spcPct val="90000"/>
        </a:lnSpc>
        <a:spcBef>
          <a:spcPts val="1000"/>
        </a:spcBef>
        <a:buClr>
          <a:srgbClr val="0094CB"/>
        </a:buClr>
        <a:buSzPct val="60000"/>
        <a:buFont typeface="Wingdings 3" panose="05040102010807070707" pitchFamily="18" charset="2"/>
        <a:buChar char=""/>
        <a:defRPr sz="2800" b="0" i="0" kern="1200">
          <a:solidFill>
            <a:schemeClr val="tx1"/>
          </a:solidFill>
          <a:latin typeface="Gill Sans Light" charset="0"/>
          <a:ea typeface="Gill Sans Light" charset="0"/>
          <a:cs typeface="Gill Sans Light" charset="0"/>
        </a:defRPr>
      </a:lvl1pPr>
      <a:lvl2pPr marL="736600" indent="-279400" algn="l" defTabSz="914400" rtl="0" eaLnBrk="1" latinLnBrk="0" hangingPunct="1">
        <a:lnSpc>
          <a:spcPct val="90000"/>
        </a:lnSpc>
        <a:spcBef>
          <a:spcPts val="500"/>
        </a:spcBef>
        <a:buClr>
          <a:srgbClr val="0094CB"/>
        </a:buClr>
        <a:buSzPct val="80000"/>
        <a:buFont typeface="Wingdings" charset="2"/>
        <a:buChar char="§"/>
        <a:defRPr sz="2400" b="0" i="0" kern="1200">
          <a:solidFill>
            <a:schemeClr val="tx1"/>
          </a:solidFill>
          <a:latin typeface="Gill Sans Light" charset="0"/>
          <a:ea typeface="Gill Sans Light" charset="0"/>
          <a:cs typeface="Gill Sans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4CB"/>
        </a:buClr>
        <a:buSzPct val="100000"/>
        <a:buFont typeface="Arial" charset="0"/>
        <a:buChar char="•"/>
        <a:defRPr sz="2000" b="0" i="0" kern="1200">
          <a:solidFill>
            <a:schemeClr val="tx1"/>
          </a:solidFill>
          <a:latin typeface="Gill Sans Light" charset="0"/>
          <a:ea typeface="Gill Sans Light" charset="0"/>
          <a:cs typeface="Gill Sans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4CB"/>
        </a:buClr>
        <a:buSzPct val="60000"/>
        <a:buFont typeface="Wingdings 3" panose="05040102010807070707" pitchFamily="18" charset="2"/>
        <a:buChar char=""/>
        <a:defRPr sz="1800" b="0" i="0" kern="1200">
          <a:solidFill>
            <a:schemeClr val="tx1"/>
          </a:solidFill>
          <a:latin typeface="Gill Sans Light" charset="0"/>
          <a:ea typeface="Gill Sans Light" charset="0"/>
          <a:cs typeface="Gill Sans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4CB"/>
        </a:buClr>
        <a:buSzPct val="60000"/>
        <a:buFont typeface="Wingdings 3" panose="05040102010807070707" pitchFamily="18" charset="2"/>
        <a:buChar char=""/>
        <a:defRPr sz="1800" b="0" i="0" kern="1200">
          <a:solidFill>
            <a:schemeClr val="tx1"/>
          </a:solidFill>
          <a:latin typeface="Gill Sans Light" charset="0"/>
          <a:ea typeface="Gill Sans Light" charset="0"/>
          <a:cs typeface="Gill Sans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tiff"/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11" Type="http://schemas.openxmlformats.org/officeDocument/2006/relationships/image" Target="../media/image50.png"/><Relationship Id="rId5" Type="http://schemas.openxmlformats.org/officeDocument/2006/relationships/image" Target="../media/image45.PNG"/><Relationship Id="rId10" Type="http://schemas.openxmlformats.org/officeDocument/2006/relationships/image" Target="../media/image49.PNG"/><Relationship Id="rId4" Type="http://schemas.openxmlformats.org/officeDocument/2006/relationships/image" Target="../media/image8.PNG"/><Relationship Id="rId9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11C1B4-05E1-473B-A60E-6B31DA644FC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Russ Warner, VP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5F9028-39C3-49BA-99EE-AC19982C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Deception Detection Technologies</a:t>
            </a:r>
          </a:p>
        </p:txBody>
      </p:sp>
    </p:spTree>
    <p:extLst>
      <p:ext uri="{BB962C8B-B14F-4D97-AF65-F5344CB8AC3E}">
        <p14:creationId xmlns:p14="http://schemas.microsoft.com/office/powerpoint/2010/main" val="264930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picture containing wearing, necktie, person&#10;&#10;Description generated with very high confidence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717827" y="790698"/>
            <a:ext cx="6769651" cy="518603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0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emiBold" panose="020B0702020104020203" pitchFamily="34" charset="0"/>
              </a:rPr>
              <a:t>Lying is, in a pure physiological sense, an unnatural act.</a:t>
            </a:r>
          </a:p>
          <a:p>
            <a:pPr marL="0" indent="0">
              <a:buNone/>
            </a:pPr>
            <a:r>
              <a:rPr lang="en-US" sz="3000" dirty="0">
                <a:latin typeface="Gill Sans Light" pitchFamily="50" charset="0"/>
              </a:rPr>
              <a:t>                   -  Lewis Thomas</a:t>
            </a:r>
          </a:p>
          <a:p>
            <a:pPr marL="0" indent="0">
              <a:buNone/>
            </a:pPr>
            <a:endParaRPr lang="en-US" sz="2000" dirty="0">
              <a:latin typeface="Gill Sans Light" pitchFamily="50" charset="0"/>
            </a:endParaRPr>
          </a:p>
          <a:p>
            <a:pPr marL="0" indent="0">
              <a:buNone/>
            </a:pPr>
            <a:endParaRPr lang="en-US" sz="2100" dirty="0">
              <a:latin typeface="Gill Sans Light" pitchFamily="50" charset="0"/>
            </a:endParaRPr>
          </a:p>
          <a:p>
            <a:pPr marL="0" indent="0">
              <a:buNone/>
            </a:pPr>
            <a:endParaRPr lang="en-US" sz="2100" dirty="0">
              <a:latin typeface="Gill Sans Light" pitchFamily="50" charset="0"/>
            </a:endParaRPr>
          </a:p>
          <a:p>
            <a:pPr marL="0" indent="0">
              <a:buNone/>
            </a:pPr>
            <a:endParaRPr lang="en-US" sz="2100" dirty="0">
              <a:latin typeface="Gill Sans Light" pitchFamily="50" charset="0"/>
            </a:endParaRPr>
          </a:p>
          <a:p>
            <a:pPr marL="0" indent="0">
              <a:buNone/>
            </a:pPr>
            <a:r>
              <a:rPr lang="en-US" sz="2100" dirty="0">
                <a:latin typeface="Gill Sans Light" pitchFamily="50" charset="0"/>
              </a:rPr>
              <a:t>American Physician &amp; Author</a:t>
            </a:r>
          </a:p>
          <a:p>
            <a:pPr marL="0" indent="0">
              <a:buNone/>
            </a:pPr>
            <a:r>
              <a:rPr lang="en-US" sz="2100" dirty="0">
                <a:latin typeface="Gill Sans Light" pitchFamily="50" charset="0"/>
              </a:rPr>
              <a:t>President, Memorial Sloan-Kettering Institute</a:t>
            </a:r>
          </a:p>
          <a:p>
            <a:pPr marL="0" indent="0">
              <a:buNone/>
            </a:pPr>
            <a:r>
              <a:rPr lang="en-US" sz="2100" dirty="0">
                <a:latin typeface="Gill Sans Light" pitchFamily="50" charset="0"/>
              </a:rPr>
              <a:t>Dean, NYU School of Medicine</a:t>
            </a:r>
          </a:p>
          <a:p>
            <a:pPr marL="0" indent="0">
              <a:buNone/>
            </a:pPr>
            <a:r>
              <a:rPr lang="en-US" sz="2100" dirty="0">
                <a:latin typeface="Gill Sans Light" pitchFamily="50" charset="0"/>
              </a:rPr>
              <a:t>Dean, Harvard Medical School</a:t>
            </a:r>
          </a:p>
          <a:p>
            <a:pPr marL="0" indent="0">
              <a:buNone/>
            </a:pPr>
            <a:r>
              <a:rPr lang="en-US" sz="2100" dirty="0">
                <a:latin typeface="Gill Sans Light" pitchFamily="50" charset="0"/>
              </a:rPr>
              <a:t>Pulitzer Prize nominee</a:t>
            </a:r>
          </a:p>
        </p:txBody>
      </p:sp>
    </p:spTree>
    <p:extLst>
      <p:ext uri="{BB962C8B-B14F-4D97-AF65-F5344CB8AC3E}">
        <p14:creationId xmlns:p14="http://schemas.microsoft.com/office/powerpoint/2010/main" val="266794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4991" y="1232291"/>
            <a:ext cx="6361044" cy="623014"/>
          </a:xfrm>
          <a:prstGeom prst="rect">
            <a:avLst/>
          </a:prstGeom>
          <a:noFill/>
          <a:ln w="28575">
            <a:solidFill>
              <a:srgbClr val="0094CB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3600" dirty="0">
                <a:solidFill>
                  <a:prstClr val="black"/>
                </a:solidFill>
                <a:latin typeface="Gill Sans Light"/>
                <a:cs typeface="Dosis"/>
              </a:rPr>
              <a:t>An Overview of Lying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4991" y="2081945"/>
            <a:ext cx="6361044" cy="623014"/>
          </a:xfrm>
          <a:prstGeom prst="rect">
            <a:avLst/>
          </a:prstGeom>
          <a:noFill/>
          <a:ln w="28575">
            <a:solidFill>
              <a:srgbClr val="0094CB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3600" dirty="0">
                <a:solidFill>
                  <a:prstClr val="black"/>
                </a:solidFill>
                <a:latin typeface="Gill Sans Light"/>
                <a:cs typeface="Dosis"/>
              </a:rPr>
              <a:t>Deception Detection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4991" y="2931599"/>
            <a:ext cx="6361044" cy="623014"/>
          </a:xfrm>
          <a:prstGeom prst="rect">
            <a:avLst/>
          </a:prstGeom>
          <a:noFill/>
          <a:ln w="28575">
            <a:solidFill>
              <a:srgbClr val="0094CB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3600" dirty="0">
                <a:solidFill>
                  <a:prstClr val="black"/>
                </a:solidFill>
                <a:latin typeface="Gill Sans Light"/>
                <a:cs typeface="Dosis"/>
              </a:rPr>
              <a:t>Traditional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4991" y="3781253"/>
            <a:ext cx="6361044" cy="623014"/>
          </a:xfrm>
          <a:prstGeom prst="rect">
            <a:avLst/>
          </a:prstGeom>
          <a:noFill/>
          <a:ln w="28575">
            <a:solidFill>
              <a:srgbClr val="0094CB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3600" dirty="0">
                <a:solidFill>
                  <a:prstClr val="black"/>
                </a:solidFill>
                <a:latin typeface="Gill Sans Light"/>
                <a:cs typeface="Dosis"/>
              </a:rPr>
              <a:t>Up-and-Coming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4991" y="4630907"/>
            <a:ext cx="6361044" cy="623014"/>
          </a:xfrm>
          <a:prstGeom prst="rect">
            <a:avLst/>
          </a:prstGeom>
          <a:noFill/>
          <a:ln w="28575">
            <a:solidFill>
              <a:srgbClr val="0094CB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3600" dirty="0">
                <a:solidFill>
                  <a:prstClr val="black"/>
                </a:solidFill>
                <a:latin typeface="Gill Sans Light"/>
                <a:cs typeface="Dosis"/>
              </a:rPr>
              <a:t>Impact of Corruption/Deception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4991" y="5480561"/>
            <a:ext cx="6361044" cy="623014"/>
          </a:xfrm>
          <a:prstGeom prst="rect">
            <a:avLst/>
          </a:prstGeom>
          <a:noFill/>
          <a:ln w="28575">
            <a:solidFill>
              <a:srgbClr val="0094CB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3600" dirty="0">
                <a:solidFill>
                  <a:prstClr val="black"/>
                </a:solidFill>
                <a:latin typeface="Gill Sans Light"/>
                <a:cs typeface="Dosi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2698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1: Overview of Lying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319914" y="1860763"/>
            <a:ext cx="9393237" cy="310991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dirty="0">
                <a:cs typeface="American Typewriter"/>
              </a:rPr>
              <a:t>Lying requires more cognitive effort.</a:t>
            </a:r>
            <a:endParaRPr lang="en-US" sz="4800" dirty="0"/>
          </a:p>
        </p:txBody>
      </p:sp>
      <p:sp>
        <p:nvSpPr>
          <p:cNvPr id="12" name="TextBox 11"/>
          <p:cNvSpPr txBox="1"/>
          <p:nvPr/>
        </p:nvSpPr>
        <p:spPr>
          <a:xfrm>
            <a:off x="1831900" y="168042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4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alphaModFix amt="97000"/>
          </a:blip>
          <a:stretch>
            <a:fillRect/>
          </a:stretch>
        </p:blipFill>
        <p:spPr>
          <a:xfrm>
            <a:off x="6965882" y="4127145"/>
            <a:ext cx="4218952" cy="2074319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 many ways to lie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9377" y="1885122"/>
            <a:ext cx="9241214" cy="3574774"/>
          </a:xfrm>
        </p:spPr>
        <p:txBody>
          <a:bodyPr>
            <a:noAutofit/>
          </a:bodyPr>
          <a:lstStyle/>
          <a:p>
            <a:r>
              <a:rPr lang="en-US" b="1" dirty="0"/>
              <a:t>Protective </a:t>
            </a:r>
            <a:r>
              <a:rPr lang="en-US" dirty="0"/>
              <a:t>– lie to guard the liar from a perceived danger</a:t>
            </a:r>
          </a:p>
          <a:p>
            <a:r>
              <a:rPr lang="en-US" b="1" dirty="0"/>
              <a:t>Heroic </a:t>
            </a:r>
            <a:r>
              <a:rPr lang="en-US" dirty="0"/>
              <a:t>– lie to protect others from danger</a:t>
            </a:r>
          </a:p>
          <a:p>
            <a:r>
              <a:rPr lang="en-US" b="1" dirty="0"/>
              <a:t>Playful </a:t>
            </a:r>
            <a:r>
              <a:rPr lang="en-US" dirty="0"/>
              <a:t>– lie to enhance a story</a:t>
            </a:r>
          </a:p>
          <a:p>
            <a:r>
              <a:rPr lang="en-US" b="1" dirty="0"/>
              <a:t>Ego</a:t>
            </a:r>
            <a:r>
              <a:rPr lang="en-US" dirty="0"/>
              <a:t> – lie to help the liar prevent embarrassment</a:t>
            </a:r>
          </a:p>
          <a:p>
            <a:r>
              <a:rPr lang="en-US" b="1" dirty="0"/>
              <a:t>Gainful </a:t>
            </a:r>
            <a:r>
              <a:rPr lang="en-US" dirty="0"/>
              <a:t>– lie to benefit the liar</a:t>
            </a:r>
          </a:p>
          <a:p>
            <a:r>
              <a:rPr lang="en-US" b="1" dirty="0"/>
              <a:t>Malicious</a:t>
            </a:r>
            <a:r>
              <a:rPr lang="en-US" dirty="0"/>
              <a:t> – lie to hurt others</a:t>
            </a:r>
          </a:p>
        </p:txBody>
      </p:sp>
    </p:spTree>
    <p:extLst>
      <p:ext uri="{BB962C8B-B14F-4D97-AF65-F5344CB8AC3E}">
        <p14:creationId xmlns:p14="http://schemas.microsoft.com/office/powerpoint/2010/main" val="184647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 many liars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39800" y="1480907"/>
            <a:ext cx="5715000" cy="114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cs typeface="Wawati SC Regular"/>
              </a:rPr>
              <a:t>Self-serving </a:t>
            </a:r>
            <a:r>
              <a:rPr lang="en-US" sz="2400" dirty="0"/>
              <a:t>- very common</a:t>
            </a:r>
          </a:p>
          <a:p>
            <a:pPr marL="457200" lvl="1" indent="0">
              <a:buNone/>
            </a:pPr>
            <a:r>
              <a:rPr lang="en-US" sz="2000" i="1" dirty="0"/>
              <a:t>Get something wanted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570331" y="2090507"/>
            <a:ext cx="5105400" cy="10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Gill Sans Light" pitchFamily="50" charset="0"/>
                <a:cs typeface="Wawati SC Regular"/>
              </a:rPr>
              <a:t>Pathological</a:t>
            </a:r>
            <a:r>
              <a:rPr lang="en-US" sz="2400" dirty="0">
                <a:latin typeface="Gill Sans Light" pitchFamily="50" charset="0"/>
                <a:cs typeface="Wawati SC Regular"/>
              </a:rPr>
              <a:t> </a:t>
            </a:r>
            <a:r>
              <a:rPr lang="en-US" sz="2400" dirty="0">
                <a:latin typeface="Gill Sans Light" pitchFamily="50" charset="0"/>
              </a:rPr>
              <a:t>– very persuasive</a:t>
            </a:r>
          </a:p>
          <a:p>
            <a:pPr marL="457200" lvl="1" indent="0">
              <a:buNone/>
            </a:pPr>
            <a:r>
              <a:rPr lang="en-US" sz="2000" i="1" dirty="0">
                <a:latin typeface="Gill Sans Light" pitchFamily="50" charset="0"/>
              </a:rPr>
              <a:t>Get something w/o concern for others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456031" y="5146766"/>
            <a:ext cx="5334000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Gill Sans Light" pitchFamily="50" charset="0"/>
                <a:cs typeface="Wawati SC Regular"/>
              </a:rPr>
              <a:t>Compulsive</a:t>
            </a:r>
            <a:r>
              <a:rPr lang="en-US" sz="2400" dirty="0">
                <a:latin typeface="Gill Sans Light" pitchFamily="50" charset="0"/>
                <a:cs typeface="Wawati SC Regular"/>
              </a:rPr>
              <a:t> </a:t>
            </a:r>
            <a:r>
              <a:rPr lang="en-US" sz="2400" dirty="0">
                <a:latin typeface="Gill Sans Light" pitchFamily="50" charset="0"/>
              </a:rPr>
              <a:t>- habitual or chronic</a:t>
            </a:r>
          </a:p>
          <a:p>
            <a:pPr marL="457200" lvl="1" indent="0">
              <a:buNone/>
            </a:pPr>
            <a:r>
              <a:rPr lang="en-US" sz="2000" i="1" dirty="0">
                <a:latin typeface="Gill Sans Light" pitchFamily="50" charset="0"/>
              </a:rPr>
              <a:t>	The normal way to respond to questions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462709" y="3618636"/>
            <a:ext cx="6477000" cy="10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>
                <a:latin typeface="Gill Sans Light" pitchFamily="50" charset="0"/>
                <a:cs typeface="Wawati SC Regular"/>
              </a:rPr>
              <a:t>Disassociative</a:t>
            </a:r>
            <a:r>
              <a:rPr lang="en-US" sz="2400" b="1" dirty="0">
                <a:latin typeface="Gill Sans Light" pitchFamily="50" charset="0"/>
                <a:cs typeface="Wawati SC Regular"/>
              </a:rPr>
              <a:t> </a:t>
            </a:r>
            <a:r>
              <a:rPr lang="en-US" sz="2400" dirty="0">
                <a:latin typeface="Gill Sans Light" pitchFamily="50" charset="0"/>
              </a:rPr>
              <a:t>– departure from reality</a:t>
            </a:r>
          </a:p>
          <a:p>
            <a:pPr marL="457200" lvl="1" indent="0">
              <a:buNone/>
            </a:pPr>
            <a:r>
              <a:rPr lang="en-US" sz="2000" i="1" dirty="0">
                <a:latin typeface="Gill Sans Light" pitchFamily="50" charset="0"/>
              </a:rPr>
              <a:t>Contradict the truth, facts or previous statements</a:t>
            </a:r>
          </a:p>
        </p:txBody>
      </p:sp>
    </p:spTree>
    <p:extLst>
      <p:ext uri="{BB962C8B-B14F-4D97-AF65-F5344CB8AC3E}">
        <p14:creationId xmlns:p14="http://schemas.microsoft.com/office/powerpoint/2010/main" val="154518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Physiological Changes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43276" y="2062369"/>
            <a:ext cx="3505200" cy="3124200"/>
          </a:xfrm>
        </p:spPr>
        <p:txBody>
          <a:bodyPr>
            <a:normAutofit/>
          </a:bodyPr>
          <a:lstStyle/>
          <a:p>
            <a:r>
              <a:rPr lang="en-US" dirty="0">
                <a:ea typeface="Calibri" charset="0"/>
                <a:cs typeface="Calibri" charset="0"/>
              </a:rPr>
              <a:t>Heart rate</a:t>
            </a:r>
          </a:p>
          <a:p>
            <a:r>
              <a:rPr lang="en-US" dirty="0">
                <a:ea typeface="Calibri" charset="0"/>
                <a:cs typeface="Calibri" charset="0"/>
              </a:rPr>
              <a:t>Blood pressure</a:t>
            </a:r>
          </a:p>
          <a:p>
            <a:r>
              <a:rPr lang="en-US" dirty="0">
                <a:ea typeface="Calibri" charset="0"/>
                <a:cs typeface="Calibri" charset="0"/>
              </a:rPr>
              <a:t>Respiration</a:t>
            </a:r>
          </a:p>
          <a:p>
            <a:r>
              <a:rPr lang="en-US" dirty="0">
                <a:ea typeface="Calibri" charset="0"/>
                <a:cs typeface="Calibri" charset="0"/>
              </a:rPr>
              <a:t>Skin conductance</a:t>
            </a:r>
          </a:p>
          <a:p>
            <a:r>
              <a:rPr lang="en-US" dirty="0">
                <a:ea typeface="Calibri" charset="0"/>
                <a:cs typeface="Calibri" charset="0"/>
              </a:rPr>
              <a:t>Pupil dilation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29740" y="1994106"/>
            <a:ext cx="4267200" cy="2809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ill Sans Light" pitchFamily="50" charset="0"/>
                <a:ea typeface="Calibri" charset="0"/>
                <a:cs typeface="Calibri" charset="0"/>
              </a:rPr>
              <a:t>Eye fixation duration</a:t>
            </a:r>
          </a:p>
          <a:p>
            <a:r>
              <a:rPr lang="en-US" sz="2800" dirty="0">
                <a:latin typeface="Gill Sans Light" pitchFamily="50" charset="0"/>
                <a:ea typeface="Calibri" charset="0"/>
                <a:cs typeface="Calibri" charset="0"/>
              </a:rPr>
              <a:t>Cognitive load</a:t>
            </a:r>
          </a:p>
          <a:p>
            <a:r>
              <a:rPr lang="en-US" sz="2800" dirty="0">
                <a:latin typeface="Gill Sans Light" pitchFamily="50" charset="0"/>
                <a:ea typeface="Calibri" charset="0"/>
                <a:cs typeface="Calibri" charset="0"/>
              </a:rPr>
              <a:t>Voice fluctuation</a:t>
            </a:r>
          </a:p>
          <a:p>
            <a:r>
              <a:rPr lang="en-US" sz="2800" dirty="0">
                <a:latin typeface="Gill Sans Light" pitchFamily="50" charset="0"/>
                <a:ea typeface="Calibri" charset="0"/>
                <a:cs typeface="Calibri" charset="0"/>
              </a:rPr>
              <a:t>Question response rate</a:t>
            </a:r>
          </a:p>
          <a:p>
            <a:r>
              <a:rPr lang="en-US" sz="2800" dirty="0">
                <a:latin typeface="Gill Sans Light" pitchFamily="50" charset="0"/>
                <a:ea typeface="Calibri" charset="0"/>
                <a:cs typeface="Calibri" charset="0"/>
              </a:rPr>
              <a:t>Emotional arousal</a:t>
            </a:r>
          </a:p>
        </p:txBody>
      </p:sp>
      <p:pic>
        <p:nvPicPr>
          <p:cNvPr id="9" name="Picture 8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4676" y="2100469"/>
            <a:ext cx="538464" cy="4950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17777" y="1875894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Picture 16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4676" y="2557669"/>
            <a:ext cx="538464" cy="495039"/>
          </a:xfrm>
          <a:prstGeom prst="rect">
            <a:avLst/>
          </a:prstGeom>
        </p:spPr>
      </p:pic>
      <p:pic>
        <p:nvPicPr>
          <p:cNvPr id="18" name="Picture 17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4676" y="3091069"/>
            <a:ext cx="538464" cy="495039"/>
          </a:xfrm>
          <a:prstGeom prst="rect">
            <a:avLst/>
          </a:prstGeom>
        </p:spPr>
      </p:pic>
      <p:pic>
        <p:nvPicPr>
          <p:cNvPr id="19" name="Picture 18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4676" y="3624469"/>
            <a:ext cx="538464" cy="495039"/>
          </a:xfrm>
          <a:prstGeom prst="rect">
            <a:avLst/>
          </a:prstGeom>
        </p:spPr>
      </p:pic>
      <p:pic>
        <p:nvPicPr>
          <p:cNvPr id="20" name="Picture 19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4676" y="4081669"/>
            <a:ext cx="538464" cy="495039"/>
          </a:xfrm>
          <a:prstGeom prst="rect">
            <a:avLst/>
          </a:prstGeom>
        </p:spPr>
      </p:pic>
      <p:pic>
        <p:nvPicPr>
          <p:cNvPr id="22" name="Picture 21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1140" y="2096443"/>
            <a:ext cx="538464" cy="4950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04241" y="1871868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4" name="Picture 23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1140" y="2553643"/>
            <a:ext cx="538464" cy="495039"/>
          </a:xfrm>
          <a:prstGeom prst="rect">
            <a:avLst/>
          </a:prstGeom>
        </p:spPr>
      </p:pic>
      <p:pic>
        <p:nvPicPr>
          <p:cNvPr id="25" name="Picture 24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1140" y="3010843"/>
            <a:ext cx="538464" cy="495039"/>
          </a:xfrm>
          <a:prstGeom prst="rect">
            <a:avLst/>
          </a:prstGeom>
        </p:spPr>
      </p:pic>
      <p:pic>
        <p:nvPicPr>
          <p:cNvPr id="26" name="Picture 25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1140" y="3506404"/>
            <a:ext cx="538464" cy="495039"/>
          </a:xfrm>
          <a:prstGeom prst="rect">
            <a:avLst/>
          </a:prstGeom>
        </p:spPr>
      </p:pic>
      <p:pic>
        <p:nvPicPr>
          <p:cNvPr id="27" name="Picture 26" descr="Simple to Us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1140" y="4001443"/>
            <a:ext cx="538464" cy="49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6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cture containing person, stationary, writing implement, indoor&#10;&#10;Description generated with very high confidence"/>
          <p:cNvPicPr>
            <a:picLocks noGrp="1" noChangeAspect="1"/>
          </p:cNvPicPr>
          <p:nvPr>
            <p:ph sz="quarter" idx="16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6685" y="1802040"/>
            <a:ext cx="5134403" cy="3800792"/>
          </a:xfrm>
          <a:prstGeom prst="round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4294967295"/>
          </p:nvPr>
        </p:nvSpPr>
        <p:spPr>
          <a:xfrm>
            <a:off x="459377" y="1227909"/>
            <a:ext cx="8696053" cy="4949054"/>
          </a:xfrm>
        </p:spPr>
        <p:txBody>
          <a:bodyPr>
            <a:normAutofit/>
          </a:bodyPr>
          <a:lstStyle/>
          <a:p>
            <a:pPr marL="401638" indent="-401638"/>
            <a:r>
              <a:rPr lang="en-US" sz="3600" dirty="0"/>
              <a:t>Pre-employment</a:t>
            </a:r>
          </a:p>
          <a:p>
            <a:pPr marL="401638" indent="-401638"/>
            <a:r>
              <a:rPr lang="en-US" sz="3600" dirty="0"/>
              <a:t>Periodic</a:t>
            </a:r>
          </a:p>
          <a:p>
            <a:pPr marL="401638" indent="-401638"/>
            <a:r>
              <a:rPr lang="en-US" sz="3600" dirty="0"/>
              <a:t>Event-specific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6201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 2: 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1762539" y="1480089"/>
            <a:ext cx="5957775" cy="449664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Observation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Integrity Tests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Polygraph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Voice Stress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Brain Scan (EEG, fMRI)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Ocular-motor</a:t>
            </a:r>
          </a:p>
        </p:txBody>
      </p:sp>
      <p:pic>
        <p:nvPicPr>
          <p:cNvPr id="4" name="Picture 3" descr="pinocchio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8458198" y="1742355"/>
            <a:ext cx="2567610" cy="478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4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3848101" y="1766704"/>
            <a:ext cx="4267199" cy="3033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Today’s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790486" y="2933701"/>
            <a:ext cx="2590800" cy="234066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Subjective</a:t>
            </a:r>
          </a:p>
          <a:p>
            <a:pPr marL="0" indent="0" algn="ctr">
              <a:buNone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Willing</a:t>
            </a:r>
          </a:p>
          <a:p>
            <a:pPr marL="0" indent="0" algn="ctr">
              <a:buNone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Likely </a:t>
            </a:r>
          </a:p>
          <a:p>
            <a:pPr marL="0" indent="0" algn="ctr">
              <a:buNone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Capable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271578" y="2933700"/>
            <a:ext cx="3352800" cy="2340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 pitchFamily="50" charset="0"/>
              </a:rPr>
              <a:t>Objective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 pitchFamily="50" charset="0"/>
              </a:rPr>
              <a:t>History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 pitchFamily="50" charset="0"/>
              </a:rPr>
              <a:t>Past Record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 pitchFamily="50" charset="0"/>
              </a:rPr>
              <a:t>Assume the future</a:t>
            </a:r>
          </a:p>
        </p:txBody>
      </p:sp>
    </p:spTree>
    <p:extLst>
      <p:ext uri="{BB962C8B-B14F-4D97-AF65-F5344CB8AC3E}">
        <p14:creationId xmlns:p14="http://schemas.microsoft.com/office/powerpoint/2010/main" val="226911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Person smiling for the picture&#10;&#10;Description generated with very high confidence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9563" y="1"/>
            <a:ext cx="4262437" cy="6531428"/>
          </a:xfrm>
        </p:spPr>
      </p:pic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66725" y="2142699"/>
            <a:ext cx="7285203" cy="41898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Behaviors such as gaze aversion, touching the body or face, or covering the eyes or mouth while speaking have not been found to be reliable indicators for deception.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9377" y="312874"/>
            <a:ext cx="8821101" cy="706029"/>
          </a:xfrm>
        </p:spPr>
        <p:txBody>
          <a:bodyPr>
            <a:noAutofit/>
          </a:bodyPr>
          <a:lstStyle/>
          <a:p>
            <a:r>
              <a:rPr lang="en-US" sz="4400" dirty="0"/>
              <a:t>#2 Observation/Interrogation</a:t>
            </a:r>
          </a:p>
        </p:txBody>
      </p:sp>
    </p:spTree>
    <p:extLst>
      <p:ext uri="{BB962C8B-B14F-4D97-AF65-F5344CB8AC3E}">
        <p14:creationId xmlns:p14="http://schemas.microsoft.com/office/powerpoint/2010/main" val="20952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person wearing a suit and tie&#10;&#10;Description generated with high confidence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707855" y="0"/>
            <a:ext cx="4458017" cy="6531428"/>
          </a:xfrm>
        </p:spPr>
      </p:pic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9377" y="2177346"/>
            <a:ext cx="7462838" cy="3805238"/>
          </a:xfrm>
        </p:spPr>
        <p:txBody>
          <a:bodyPr>
            <a:noAutofit/>
          </a:bodyPr>
          <a:lstStyle/>
          <a:p>
            <a:r>
              <a:rPr lang="en-US" sz="3200" dirty="0"/>
              <a:t>Despite popular belief, there are no reliable nonverbal deception cues</a:t>
            </a:r>
          </a:p>
          <a:p>
            <a:r>
              <a:rPr lang="en-US" sz="3200" dirty="0"/>
              <a:t>Accuracy rate of </a:t>
            </a:r>
            <a:r>
              <a:rPr lang="en-US" sz="3200" b="1" dirty="0"/>
              <a:t>54%</a:t>
            </a:r>
            <a:endParaRPr lang="en-US" sz="32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1800" dirty="0"/>
              <a:t>Source: Bond &amp; </a:t>
            </a:r>
            <a:r>
              <a:rPr lang="en-US" sz="1800" dirty="0" err="1"/>
              <a:t>DePaulo</a:t>
            </a:r>
            <a:r>
              <a:rPr lang="en-US" sz="1800" dirty="0"/>
              <a:t>, 2006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9377" y="312874"/>
            <a:ext cx="8821101" cy="706029"/>
          </a:xfrm>
        </p:spPr>
        <p:txBody>
          <a:bodyPr>
            <a:noAutofit/>
          </a:bodyPr>
          <a:lstStyle/>
          <a:p>
            <a:r>
              <a:rPr lang="en-US" sz="4400" dirty="0"/>
              <a:t>#2 Observation/Interrogation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27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#3 Personality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9376" y="2358888"/>
            <a:ext cx="11114313" cy="282271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i="1" dirty="0"/>
              <a:t>Will  </a:t>
            </a:r>
            <a:r>
              <a:rPr lang="en-US" sz="4000" dirty="0"/>
              <a:t>the candidate do the job?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Is there a job fit from a behavioral perspective?</a:t>
            </a:r>
          </a:p>
        </p:txBody>
      </p:sp>
    </p:spTree>
    <p:extLst>
      <p:ext uri="{BB962C8B-B14F-4D97-AF65-F5344CB8AC3E}">
        <p14:creationId xmlns:p14="http://schemas.microsoft.com/office/powerpoint/2010/main" val="114803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733" y="1365772"/>
            <a:ext cx="10515600" cy="1563959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Gill Sans Light" pitchFamily="50" charset="0"/>
              </a:rPr>
              <a:t>The Criterion-Related Validity of Integrity Tests:</a:t>
            </a:r>
            <a:br>
              <a:rPr lang="en-US" sz="4000" dirty="0">
                <a:latin typeface="Gill Sans Light" pitchFamily="50" charset="0"/>
              </a:rPr>
            </a:br>
            <a:r>
              <a:rPr lang="en-US" sz="4000" dirty="0">
                <a:latin typeface="Gill Sans Light" pitchFamily="50" charset="0"/>
              </a:rPr>
              <a:t>An Updated Meta-Analysis</a:t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89839" y="2320856"/>
            <a:ext cx="8053387" cy="39180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400" b="1" dirty="0"/>
          </a:p>
          <a:p>
            <a:pPr marL="0" indent="0" algn="ctr">
              <a:buNone/>
            </a:pPr>
            <a:r>
              <a:rPr lang="en-US" sz="2000" b="1" dirty="0"/>
              <a:t>Chad H. Van </a:t>
            </a:r>
            <a:r>
              <a:rPr lang="en-US" sz="2000" b="1" dirty="0" err="1"/>
              <a:t>Iddekinge</a:t>
            </a:r>
            <a:br>
              <a:rPr lang="en-US" sz="2000" b="1" dirty="0"/>
            </a:br>
            <a:r>
              <a:rPr lang="en-US" sz="2000" dirty="0"/>
              <a:t>Florida State University </a:t>
            </a:r>
          </a:p>
          <a:p>
            <a:pPr marL="0" indent="0" algn="ctr">
              <a:buNone/>
            </a:pPr>
            <a:br>
              <a:rPr lang="en-US" sz="2000" b="1" dirty="0"/>
            </a:br>
            <a:r>
              <a:rPr lang="en-US" sz="2000" b="1" dirty="0"/>
              <a:t>Philip L. Roth and Patrick H. </a:t>
            </a:r>
            <a:r>
              <a:rPr lang="en-US" sz="2000" b="1" dirty="0" err="1"/>
              <a:t>Raymark</a:t>
            </a:r>
            <a:br>
              <a:rPr lang="en-US" sz="2000" b="1" dirty="0"/>
            </a:br>
            <a:r>
              <a:rPr lang="en-US" sz="2000" dirty="0"/>
              <a:t>Clemson University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Heather N. </a:t>
            </a:r>
            <a:r>
              <a:rPr lang="en-US" sz="2000" b="1" dirty="0" err="1"/>
              <a:t>Odle-Dusseau</a:t>
            </a:r>
            <a:br>
              <a:rPr lang="en-US" sz="2000" b="1" dirty="0"/>
            </a:br>
            <a:r>
              <a:rPr lang="en-US" sz="2000" dirty="0"/>
              <a:t>Gettysburg College</a:t>
            </a:r>
          </a:p>
          <a:p>
            <a:pPr marL="0" indent="0" algn="ctr">
              <a:buNone/>
            </a:pPr>
            <a:br>
              <a:rPr lang="en-US" b="1" dirty="0"/>
            </a:br>
            <a:r>
              <a:rPr lang="en-US" b="1" dirty="0"/>
              <a:t>Journal of Applied Psychology 2012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839" y="3038061"/>
            <a:ext cx="1524000" cy="20066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59377" y="312874"/>
            <a:ext cx="11114313" cy="7060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Gill Sans SemiBold" panose="020B070202010402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#3 Integrity Tests</a:t>
            </a:r>
          </a:p>
        </p:txBody>
      </p:sp>
    </p:spTree>
    <p:extLst>
      <p:ext uri="{BB962C8B-B14F-4D97-AF65-F5344CB8AC3E}">
        <p14:creationId xmlns:p14="http://schemas.microsoft.com/office/powerpoint/2010/main" val="81264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9377" y="1722782"/>
            <a:ext cx="11114313" cy="4582483"/>
          </a:xfrm>
        </p:spPr>
        <p:txBody>
          <a:bodyPr/>
          <a:lstStyle/>
          <a:p>
            <a:r>
              <a:rPr lang="en-US" dirty="0"/>
              <a:t>Reviewed 104 studies of integrity tests</a:t>
            </a:r>
          </a:p>
          <a:p>
            <a:r>
              <a:rPr lang="en-US" dirty="0"/>
              <a:t>From test publishers and non-publishers</a:t>
            </a:r>
          </a:p>
          <a:p>
            <a:r>
              <a:rPr lang="en-US" dirty="0"/>
              <a:t>Calculated validity for predicting:</a:t>
            </a:r>
          </a:p>
          <a:p>
            <a:pPr lvl="1"/>
            <a:r>
              <a:rPr lang="en-US" dirty="0"/>
              <a:t>Job performance</a:t>
            </a:r>
          </a:p>
          <a:p>
            <a:pPr lvl="1"/>
            <a:r>
              <a:rPr lang="en-US" dirty="0"/>
              <a:t>Training performance</a:t>
            </a:r>
          </a:p>
          <a:p>
            <a:pPr lvl="1"/>
            <a:r>
              <a:rPr lang="en-US" dirty="0"/>
              <a:t>Counterproductive work behavior such as substance abuse, theft, withdrawal, etc.</a:t>
            </a:r>
          </a:p>
          <a:p>
            <a:pPr lvl="1"/>
            <a:r>
              <a:rPr lang="en-US" dirty="0"/>
              <a:t>Employee turnover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9891" y="1960757"/>
            <a:ext cx="2679700" cy="13169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696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levant.jp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2072" y="4718695"/>
            <a:ext cx="2842373" cy="1343964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Correlation: Results &amp; Measures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9377" y="1630018"/>
            <a:ext cx="11285068" cy="4675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28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1pPr>
            <a:lvl2pPr marL="736600" indent="-279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24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20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18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18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following are the best-case accuracy figures:</a:t>
            </a:r>
          </a:p>
          <a:p>
            <a:r>
              <a:rPr lang="en-US" dirty="0"/>
              <a:t>.53 for employee turnover</a:t>
            </a:r>
          </a:p>
          <a:p>
            <a:r>
              <a:rPr lang="en-US" dirty="0"/>
              <a:t>.55 for job performance</a:t>
            </a:r>
          </a:p>
          <a:p>
            <a:r>
              <a:rPr lang="en-US" dirty="0"/>
              <a:t>.55 for training performance</a:t>
            </a:r>
          </a:p>
          <a:p>
            <a:r>
              <a:rPr lang="en-US" dirty="0"/>
              <a:t>.60 for counterproductive work behavior – employee reports (substance abuse, theft, withdrawal, etc.)</a:t>
            </a:r>
          </a:p>
          <a:p>
            <a:r>
              <a:rPr lang="en-US" dirty="0"/>
              <a:t>.64 for counterproductive work behavior – self report*</a:t>
            </a:r>
          </a:p>
        </p:txBody>
      </p:sp>
    </p:spTree>
    <p:extLst>
      <p:ext uri="{BB962C8B-B14F-4D97-AF65-F5344CB8AC3E}">
        <p14:creationId xmlns:p14="http://schemas.microsoft.com/office/powerpoint/2010/main" val="341261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2102" y="2463800"/>
            <a:ext cx="3269996" cy="1993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9377" y="1630018"/>
            <a:ext cx="7722725" cy="4675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28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1pPr>
            <a:lvl2pPr marL="736600" indent="-279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24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20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18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18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Low predictive value for employee behavior</a:t>
            </a:r>
          </a:p>
          <a:p>
            <a:r>
              <a:rPr lang="en-US" dirty="0"/>
              <a:t>Self report/attitude tests are easily faked</a:t>
            </a:r>
          </a:p>
          <a:p>
            <a:r>
              <a:rPr lang="en-US" dirty="0"/>
              <a:t>Does not directly assess many disqualifying factors, e.g., criminal relationships, drug abuse, terrorism, criminal activity, financial problems</a:t>
            </a:r>
          </a:p>
          <a:p>
            <a:r>
              <a:rPr lang="en-US" dirty="0"/>
              <a:t>Extremely difficult to validate for topics that can be assessed by EyeDetect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picture containing thing&#10;&#10;Description generated with high confidence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3" r="343"/>
          <a:stretch>
            <a:fillRect/>
          </a:stretch>
        </p:blipFill>
        <p:spPr>
          <a:xfrm>
            <a:off x="0" y="1"/>
            <a:ext cx="12192000" cy="6531428"/>
          </a:xfrm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288281" y="2944744"/>
            <a:ext cx="5285409" cy="2422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Polygraph - machine in which multiple ("poly") </a:t>
            </a:r>
            <a:r>
              <a:rPr lang="en-US" sz="3000" b="1" dirty="0"/>
              <a:t>signals </a:t>
            </a:r>
            <a:r>
              <a:rPr lang="en-US" sz="3000" dirty="0"/>
              <a:t>from sensors attached to a subject are recorded on a rolled sheet of moving </a:t>
            </a:r>
            <a:r>
              <a:rPr lang="en-US" sz="3000" b="1" dirty="0"/>
              <a:t>paper </a:t>
            </a:r>
            <a:r>
              <a:rPr lang="en-US" sz="3000" dirty="0"/>
              <a:t>("graph"). 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9377" y="312874"/>
            <a:ext cx="11114313" cy="70602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Gill Sans SemiBold" panose="020B070202010402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#4 Polygraph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71061" y="209915"/>
            <a:ext cx="0" cy="863511"/>
          </a:xfrm>
          <a:prstGeom prst="line">
            <a:avLst/>
          </a:prstGeom>
          <a:ln w="38100">
            <a:solidFill>
              <a:srgbClr val="0094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74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109" y="2637465"/>
            <a:ext cx="6440847" cy="3542466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Polygraph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51805" y="1789877"/>
            <a:ext cx="9929453" cy="9906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Changes in emotional arousal and cognitive load. </a:t>
            </a:r>
          </a:p>
        </p:txBody>
      </p:sp>
    </p:spTree>
    <p:extLst>
      <p:ext uri="{BB962C8B-B14F-4D97-AF65-F5344CB8AC3E}">
        <p14:creationId xmlns:p14="http://schemas.microsoft.com/office/powerpoint/2010/main" val="274269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457" y="1644374"/>
            <a:ext cx="5057351" cy="3416300"/>
          </a:xfrm>
          <a:prstGeom prst="roundRect">
            <a:avLst/>
          </a:prstGeom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56082" y="2063750"/>
            <a:ext cx="3930375" cy="2286000"/>
          </a:xfrm>
        </p:spPr>
        <p:txBody>
          <a:bodyPr>
            <a:noAutofit/>
          </a:bodyPr>
          <a:lstStyle/>
          <a:p>
            <a:pPr lvl="0"/>
            <a:r>
              <a:rPr lang="en-US" sz="3600" dirty="0"/>
              <a:t>Respiration</a:t>
            </a:r>
          </a:p>
          <a:p>
            <a:pPr lvl="0"/>
            <a:r>
              <a:rPr lang="en-US" sz="3600" dirty="0"/>
              <a:t>Pulse</a:t>
            </a:r>
          </a:p>
          <a:p>
            <a:pPr lvl="0"/>
            <a:r>
              <a:rPr lang="en-US" sz="3600" dirty="0"/>
              <a:t>Blood pressure</a:t>
            </a:r>
          </a:p>
          <a:p>
            <a:pPr lvl="0"/>
            <a:r>
              <a:rPr lang="en-US" sz="3600" dirty="0"/>
              <a:t>Skin conductance</a:t>
            </a:r>
          </a:p>
        </p:txBody>
      </p:sp>
    </p:spTree>
    <p:extLst>
      <p:ext uri="{BB962C8B-B14F-4D97-AF65-F5344CB8AC3E}">
        <p14:creationId xmlns:p14="http://schemas.microsoft.com/office/powerpoint/2010/main" val="201266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4"/>
          </p:nvPr>
        </p:nvSpPr>
        <p:spPr>
          <a:xfrm>
            <a:off x="1303020" y="1868557"/>
            <a:ext cx="8772411" cy="4489717"/>
          </a:xfrm>
        </p:spPr>
        <p:txBody>
          <a:bodyPr>
            <a:normAutofit fontScale="92500"/>
          </a:bodyPr>
          <a:lstStyle/>
          <a:p>
            <a:r>
              <a:rPr lang="en-US" sz="4700" dirty="0"/>
              <a:t> Event-specific questioning: 80 - 90%</a:t>
            </a:r>
          </a:p>
          <a:p>
            <a:r>
              <a:rPr lang="en-US" sz="4700" dirty="0"/>
              <a:t> Pre-employment/periodic: 71% - 82%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APA, 2012, Meta-Analytic Survey of Criterion Accuracy of Validated Polygraph Techniques.</a:t>
            </a:r>
          </a:p>
          <a:p>
            <a:pPr marL="0" indent="0">
              <a:buNone/>
            </a:pPr>
            <a:endParaRPr lang="en-US" altLang="en-US" sz="19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900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Krapohl</a:t>
            </a:r>
            <a:r>
              <a:rPr lang="en-US" altLang="en-US" sz="19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D. J. (2002).  The polygraph in personnel screening.  In M. </a:t>
            </a:r>
            <a:r>
              <a:rPr lang="en-US" altLang="en-US" sz="1900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Kleiner</a:t>
            </a:r>
            <a:r>
              <a:rPr lang="en-US" altLang="en-US" sz="19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(Ed.) Handbook of Polygraph Testing. 217-236.  San Diego: Academic Press.</a:t>
            </a:r>
            <a:endParaRPr lang="en-US" altLang="en-US" sz="1900" dirty="0"/>
          </a:p>
        </p:txBody>
      </p:sp>
    </p:spTree>
    <p:extLst>
      <p:ext uri="{BB962C8B-B14F-4D97-AF65-F5344CB8AC3E}">
        <p14:creationId xmlns:p14="http://schemas.microsoft.com/office/powerpoint/2010/main" val="191990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2130333" y="665888"/>
            <a:ext cx="7772400" cy="5867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36700" y="1968500"/>
            <a:ext cx="9385300" cy="3200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400" dirty="0"/>
              <a:t>Interpersonal interactions between examiner and examinee before the test can affect the outcome, as can the interpretation of polygraph recordings.</a:t>
            </a:r>
          </a:p>
        </p:txBody>
      </p:sp>
    </p:spTree>
    <p:extLst>
      <p:ext uri="{BB962C8B-B14F-4D97-AF65-F5344CB8AC3E}">
        <p14:creationId xmlns:p14="http://schemas.microsoft.com/office/powerpoint/2010/main" val="335631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221701" y="1045407"/>
            <a:ext cx="9804399" cy="54904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Acting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4294967295"/>
          </p:nvPr>
        </p:nvSpPr>
        <p:spPr>
          <a:xfrm>
            <a:off x="2238855" y="1930400"/>
            <a:ext cx="7543800" cy="1828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400" dirty="0"/>
              <a:t>Liars, concerned about being believed, often come across as helpful and truthful in an interview, and put more effort into impressing their interviewer. </a:t>
            </a:r>
          </a:p>
        </p:txBody>
      </p:sp>
    </p:spTree>
    <p:extLst>
      <p:ext uri="{BB962C8B-B14F-4D97-AF65-F5344CB8AC3E}">
        <p14:creationId xmlns:p14="http://schemas.microsoft.com/office/powerpoint/2010/main" val="160399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8035676" y="3479800"/>
            <a:ext cx="2708524" cy="270852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511300" y="1918820"/>
            <a:ext cx="9232900" cy="3796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Innocent Appear Guilty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27125" y="1918819"/>
            <a:ext cx="9917075" cy="3063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28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1pPr>
            <a:lvl2pPr marL="736600" indent="-279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24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20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18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94CB"/>
              </a:buClr>
              <a:buSzPct val="60000"/>
              <a:buFont typeface="Wingdings 3" panose="05040102010807070707" pitchFamily="18" charset="2"/>
              <a:buChar char=""/>
              <a:defRPr sz="1800" kern="1200">
                <a:solidFill>
                  <a:schemeClr val="tx1"/>
                </a:solidFill>
                <a:latin typeface="Gill Sans Light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Under stress, many stereotypical behaviors associated with deception are shown:  </a:t>
            </a:r>
          </a:p>
          <a:p>
            <a:pPr lvl="1"/>
            <a:r>
              <a:rPr lang="en-US" sz="3200" dirty="0"/>
              <a:t>Speech errors</a:t>
            </a:r>
          </a:p>
          <a:p>
            <a:pPr lvl="1"/>
            <a:r>
              <a:rPr lang="en-US" sz="3200" dirty="0"/>
              <a:t>Fidgeting</a:t>
            </a:r>
          </a:p>
          <a:p>
            <a:pPr lvl="1"/>
            <a:r>
              <a:rPr lang="en-US" sz="3200" dirty="0"/>
              <a:t>Gaze aversion</a:t>
            </a:r>
          </a:p>
        </p:txBody>
      </p:sp>
    </p:spTree>
    <p:extLst>
      <p:ext uri="{BB962C8B-B14F-4D97-AF65-F5344CB8AC3E}">
        <p14:creationId xmlns:p14="http://schemas.microsoft.com/office/powerpoint/2010/main" val="87972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#5 CVSA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49400" y="4931031"/>
            <a:ext cx="9359900" cy="137160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ea typeface="Calibri" charset="0"/>
                <a:cs typeface="Calibri" charset="0"/>
              </a:rPr>
              <a:t>Small, involuntary frequency modulations in the voice when under stress (i.e., lying).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533" y="1508789"/>
            <a:ext cx="4520039" cy="2932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549400" y="1609781"/>
            <a:ext cx="39624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latin typeface="Gill Sans Light" pitchFamily="50" charset="0"/>
                <a:ea typeface="Calibri" charset="0"/>
                <a:cs typeface="Calibri" charset="0"/>
              </a:rPr>
              <a:t>Basis for Method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000" dirty="0">
                <a:latin typeface="Gill Sans Light" pitchFamily="50" charset="0"/>
                <a:ea typeface="Calibri" charset="0"/>
                <a:cs typeface="Calibri" charset="0"/>
              </a:rPr>
              <a:t>Muscles in the voice box tighten or loosen, which changes the sound of the voice.</a:t>
            </a:r>
          </a:p>
        </p:txBody>
      </p:sp>
    </p:spTree>
    <p:extLst>
      <p:ext uri="{BB962C8B-B14F-4D97-AF65-F5344CB8AC3E}">
        <p14:creationId xmlns:p14="http://schemas.microsoft.com/office/powerpoint/2010/main" val="63077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1384" y="2038336"/>
            <a:ext cx="1799316" cy="1409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25563" y="2038336"/>
            <a:ext cx="9355137" cy="320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TP rates : 50% to 65%.</a:t>
            </a:r>
          </a:p>
          <a:p>
            <a:pPr marL="0" indent="0">
              <a:buNone/>
            </a:pPr>
            <a:r>
              <a:rPr lang="en-US" sz="3000" dirty="0"/>
              <a:t>FP rate was just as high and often higher. 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/>
              <a:t>The CVSA system operates at about chance.</a:t>
            </a:r>
          </a:p>
          <a:p>
            <a:pPr marL="0" indent="0">
              <a:buNone/>
            </a:pPr>
            <a:endParaRPr lang="en-US" sz="3000" b="1" dirty="0"/>
          </a:p>
          <a:p>
            <a:pPr marL="0" indent="0">
              <a:buNone/>
            </a:pPr>
            <a:r>
              <a:rPr lang="en-US" sz="1800" i="1" dirty="0"/>
              <a:t>Journal of Forensic Sciences,</a:t>
            </a:r>
            <a:r>
              <a:rPr lang="en-US" sz="1800" dirty="0"/>
              <a:t> 53(1), 183-193, </a:t>
            </a:r>
            <a:r>
              <a:rPr lang="en-US" sz="1800" dirty="0" err="1"/>
              <a:t>Hollien</a:t>
            </a:r>
            <a:r>
              <a:rPr lang="en-US" sz="1800" dirty="0"/>
              <a:t> and </a:t>
            </a:r>
            <a:r>
              <a:rPr lang="en-US" sz="1800" dirty="0" err="1"/>
              <a:t>Harnsberger</a:t>
            </a:r>
            <a:r>
              <a:rPr lang="en-US" sz="1800" dirty="0"/>
              <a:t> (2008).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3345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11300" y="1524000"/>
            <a:ext cx="91694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ea typeface="Calibri" charset="0"/>
                <a:cs typeface="Calibri" charset="0"/>
              </a:rPr>
              <a:t>Other sources drawing the same conclusion: </a:t>
            </a:r>
          </a:p>
          <a:p>
            <a:r>
              <a:rPr lang="en-US" sz="2000" b="1" dirty="0">
                <a:ea typeface="Calibri" charset="0"/>
                <a:cs typeface="Calibri" charset="0"/>
              </a:rPr>
              <a:t>Journal of Forensic Sciences</a:t>
            </a:r>
            <a:r>
              <a:rPr lang="en-US" sz="2000" dirty="0">
                <a:ea typeface="Calibri" charset="0"/>
                <a:cs typeface="Calibri" charset="0"/>
              </a:rPr>
              <a:t>, 53(1), 183-193, </a:t>
            </a:r>
            <a:r>
              <a:rPr lang="en-US" sz="2000" dirty="0" err="1">
                <a:ea typeface="Calibri" charset="0"/>
                <a:cs typeface="Calibri" charset="0"/>
              </a:rPr>
              <a:t>Hollien</a:t>
            </a:r>
            <a:r>
              <a:rPr lang="en-US" sz="2000" dirty="0">
                <a:ea typeface="Calibri" charset="0"/>
                <a:cs typeface="Calibri" charset="0"/>
              </a:rPr>
              <a:t> and </a:t>
            </a:r>
            <a:r>
              <a:rPr lang="en-US" sz="2000" dirty="0" err="1">
                <a:ea typeface="Calibri" charset="0"/>
                <a:cs typeface="Calibri" charset="0"/>
              </a:rPr>
              <a:t>Harnsberger</a:t>
            </a:r>
            <a:r>
              <a:rPr lang="en-US" sz="2000" dirty="0">
                <a:ea typeface="Calibri" charset="0"/>
                <a:cs typeface="Calibri" charset="0"/>
              </a:rPr>
              <a:t> (2008)</a:t>
            </a:r>
          </a:p>
          <a:p>
            <a:r>
              <a:rPr lang="en-US" sz="2000" b="1" dirty="0">
                <a:ea typeface="Calibri" charset="0"/>
                <a:cs typeface="Calibri" charset="0"/>
              </a:rPr>
              <a:t>Oklahoma Department of Mental Health and Substance Abuse Services</a:t>
            </a:r>
          </a:p>
          <a:p>
            <a:r>
              <a:rPr lang="en-US" sz="2000" b="1" dirty="0">
                <a:ea typeface="Calibri" charset="0"/>
                <a:cs typeface="Calibri" charset="0"/>
              </a:rPr>
              <a:t>The Journal of the Acoustical Society of America </a:t>
            </a:r>
            <a:r>
              <a:rPr lang="en-US" sz="2000" dirty="0">
                <a:ea typeface="Calibri" charset="0"/>
                <a:cs typeface="Calibri" charset="0"/>
              </a:rPr>
              <a:t>124(4):2458, October 2008, </a:t>
            </a:r>
            <a:r>
              <a:rPr lang="en-US" sz="2000" dirty="0" err="1">
                <a:ea typeface="Calibri" charset="0"/>
                <a:cs typeface="Calibri" charset="0"/>
              </a:rPr>
              <a:t>Hollien</a:t>
            </a:r>
            <a:r>
              <a:rPr lang="en-US" sz="2000" dirty="0">
                <a:ea typeface="Calibri" charset="0"/>
                <a:cs typeface="Calibri" charset="0"/>
              </a:rPr>
              <a:t> and </a:t>
            </a:r>
            <a:r>
              <a:rPr lang="en-US" sz="2000" dirty="0" err="1">
                <a:ea typeface="Calibri" charset="0"/>
                <a:cs typeface="Calibri" charset="0"/>
              </a:rPr>
              <a:t>Harnsberger</a:t>
            </a:r>
            <a:r>
              <a:rPr lang="en-US" sz="2000" dirty="0">
                <a:ea typeface="Calibri" charset="0"/>
                <a:cs typeface="Calibri" charset="0"/>
              </a:rPr>
              <a:t>, “Evaluation of two voice stress analyzers,” J. </a:t>
            </a:r>
            <a:r>
              <a:rPr lang="en-US" sz="2000" dirty="0" err="1">
                <a:ea typeface="Calibri" charset="0"/>
                <a:cs typeface="Calibri" charset="0"/>
              </a:rPr>
              <a:t>Acoust</a:t>
            </a:r>
            <a:r>
              <a:rPr lang="en-US" sz="2000" dirty="0">
                <a:ea typeface="Calibri" charset="0"/>
                <a:cs typeface="Calibri" charset="0"/>
              </a:rPr>
              <a:t>. Soc. Am. 124(4):2458, October 2008.</a:t>
            </a:r>
          </a:p>
          <a:p>
            <a:r>
              <a:rPr lang="en-US" sz="2000" b="1" dirty="0">
                <a:ea typeface="Calibri" charset="0"/>
                <a:cs typeface="Calibri" charset="0"/>
              </a:rPr>
              <a:t>Journal of Forensic Sciences </a:t>
            </a:r>
            <a:r>
              <a:rPr lang="en-US" sz="2000" dirty="0">
                <a:ea typeface="Calibri" charset="0"/>
                <a:cs typeface="Calibri" charset="0"/>
              </a:rPr>
              <a:t>54(3), 2009, </a:t>
            </a:r>
            <a:r>
              <a:rPr lang="en-US" sz="2000" dirty="0" err="1">
                <a:ea typeface="Calibri" charset="0"/>
                <a:cs typeface="Calibri" charset="0"/>
              </a:rPr>
              <a:t>Harnsberger</a:t>
            </a:r>
            <a:r>
              <a:rPr lang="en-US" sz="2000" dirty="0">
                <a:ea typeface="Calibri" charset="0"/>
                <a:cs typeface="Calibri" charset="0"/>
              </a:rPr>
              <a:t>, </a:t>
            </a:r>
            <a:r>
              <a:rPr lang="en-US" sz="2000" dirty="0" err="1">
                <a:ea typeface="Calibri" charset="0"/>
                <a:cs typeface="Calibri" charset="0"/>
              </a:rPr>
              <a:t>Hollien</a:t>
            </a:r>
            <a:r>
              <a:rPr lang="en-US" sz="2000" dirty="0">
                <a:ea typeface="Calibri" charset="0"/>
                <a:cs typeface="Calibri" charset="0"/>
              </a:rPr>
              <a:t>, Martin, and K </a:t>
            </a:r>
            <a:r>
              <a:rPr lang="en-US" sz="2000" dirty="0" err="1">
                <a:ea typeface="Calibri" charset="0"/>
                <a:cs typeface="Calibri" charset="0"/>
              </a:rPr>
              <a:t>Hollien</a:t>
            </a:r>
            <a:r>
              <a:rPr lang="en-US" sz="2000" dirty="0">
                <a:ea typeface="Calibri" charset="0"/>
                <a:cs typeface="Calibri" charset="0"/>
              </a:rPr>
              <a:t>, “Stress and Deception in Speech: Evaluating Layered Voice Analysis”</a:t>
            </a:r>
          </a:p>
          <a:p>
            <a:r>
              <a:rPr lang="en-US" sz="2000" b="1" dirty="0">
                <a:ea typeface="Calibri" charset="0"/>
                <a:cs typeface="Calibri" charset="0"/>
              </a:rPr>
              <a:t>National Research Council</a:t>
            </a:r>
            <a:r>
              <a:rPr lang="en-US" sz="2000" dirty="0">
                <a:ea typeface="Calibri" charset="0"/>
                <a:cs typeface="Calibri" charset="0"/>
              </a:rPr>
              <a:t>, Robert Pool, Field Evaluation in the Intelligence and Counterintelligence Context, 2009. </a:t>
            </a:r>
          </a:p>
          <a:p>
            <a:r>
              <a:rPr lang="en-US" sz="2000" b="1" dirty="0">
                <a:ea typeface="Calibri" charset="0"/>
                <a:cs typeface="Calibri" charset="0"/>
              </a:rPr>
              <a:t>Journal of Forensic Sciences</a:t>
            </a:r>
            <a:r>
              <a:rPr lang="en-US" sz="2000" dirty="0">
                <a:ea typeface="Calibri" charset="0"/>
                <a:cs typeface="Calibri" charset="0"/>
              </a:rPr>
              <a:t>, </a:t>
            </a:r>
            <a:r>
              <a:rPr lang="en-US" sz="2000" dirty="0" err="1">
                <a:ea typeface="Calibri" charset="0"/>
                <a:cs typeface="Calibri" charset="0"/>
              </a:rPr>
              <a:t>Hollien</a:t>
            </a:r>
            <a:r>
              <a:rPr lang="en-US" sz="2000" dirty="0">
                <a:ea typeface="Calibri" charset="0"/>
                <a:cs typeface="Calibri" charset="0"/>
              </a:rPr>
              <a:t> et al., “Evaluation of the NITV CVSA,” 2008.</a:t>
            </a:r>
          </a:p>
        </p:txBody>
      </p:sp>
    </p:spTree>
    <p:extLst>
      <p:ext uri="{BB962C8B-B14F-4D97-AF65-F5344CB8AC3E}">
        <p14:creationId xmlns:p14="http://schemas.microsoft.com/office/powerpoint/2010/main" val="45790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62100" y="1449923"/>
            <a:ext cx="3657600" cy="2264629"/>
          </a:xfrm>
          <a:prstGeom prst="round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3902404"/>
            <a:ext cx="3657600" cy="2011680"/>
          </a:xfrm>
          <a:prstGeom prst="round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0381" y="3385894"/>
            <a:ext cx="3803375" cy="2528190"/>
          </a:xfrm>
          <a:prstGeom prst="round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486446" y="1892106"/>
            <a:ext cx="4737100" cy="612934"/>
          </a:xfrm>
          <a:prstGeom prst="round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Gill Sans Light" pitchFamily="50" charset="0"/>
              </a:rPr>
              <a:t>EEG - electroencephalogram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#6 Brain Scan </a:t>
            </a:r>
          </a:p>
        </p:txBody>
      </p:sp>
    </p:spTree>
    <p:extLst>
      <p:ext uri="{BB962C8B-B14F-4D97-AF65-F5344CB8AC3E}">
        <p14:creationId xmlns:p14="http://schemas.microsoft.com/office/powerpoint/2010/main" val="212036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1200150" y="1649212"/>
            <a:ext cx="10373540" cy="5076968"/>
          </a:xfrm>
        </p:spPr>
        <p:txBody>
          <a:bodyPr>
            <a:normAutofit/>
          </a:bodyPr>
          <a:lstStyle/>
          <a:p>
            <a:r>
              <a:rPr lang="en-US" sz="3200" b="1" dirty="0"/>
              <a:t>Familiar Stimuli </a:t>
            </a:r>
            <a:r>
              <a:rPr lang="en-US" sz="3200" dirty="0"/>
              <a:t>- create a positive baseline (i.e., subject sees a friend).</a:t>
            </a:r>
          </a:p>
          <a:p>
            <a:r>
              <a:rPr lang="en-US" sz="3200" b="1" dirty="0"/>
              <a:t>Unfamiliar Stimuli</a:t>
            </a:r>
            <a:r>
              <a:rPr lang="en-US" sz="3200" dirty="0"/>
              <a:t>– create  a negative baseline (i.e., subject sees a stranger). </a:t>
            </a:r>
          </a:p>
          <a:p>
            <a:r>
              <a:rPr lang="en-US" sz="3200" b="1" dirty="0"/>
              <a:t>Probes </a:t>
            </a:r>
            <a:r>
              <a:rPr lang="en-US" sz="3200" dirty="0"/>
              <a:t>- topics on which truthfulness is tested.</a:t>
            </a:r>
          </a:p>
        </p:txBody>
      </p:sp>
    </p:spTree>
    <p:extLst>
      <p:ext uri="{BB962C8B-B14F-4D97-AF65-F5344CB8AC3E}">
        <p14:creationId xmlns:p14="http://schemas.microsoft.com/office/powerpoint/2010/main" val="129142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44600" y="1824053"/>
            <a:ext cx="6591300" cy="330020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10000"/>
              </a:lnSpc>
              <a:buNone/>
            </a:pPr>
            <a:r>
              <a:rPr lang="en-US" sz="3600" b="1" dirty="0"/>
              <a:t>Electroencephalogram</a:t>
            </a:r>
          </a:p>
          <a:p>
            <a:pPr marL="0" indent="0" fontAlgn="base">
              <a:buNone/>
            </a:pPr>
            <a:r>
              <a:rPr lang="en-US" sz="3600" dirty="0"/>
              <a:t>Research shows </a:t>
            </a:r>
            <a:r>
              <a:rPr lang="en-US" sz="3600" b="1" dirty="0"/>
              <a:t>87% </a:t>
            </a:r>
            <a:r>
              <a:rPr lang="en-US" sz="3600" dirty="0"/>
              <a:t>accuracy.</a:t>
            </a:r>
          </a:p>
          <a:p>
            <a:pPr marL="0" indent="0" fontAlgn="base">
              <a:buNone/>
            </a:pPr>
            <a:endParaRPr lang="en-US" sz="3600" b="1" dirty="0"/>
          </a:p>
          <a:p>
            <a:pPr marL="0" indent="0" fontAlgn="base">
              <a:buNone/>
            </a:pPr>
            <a:r>
              <a:rPr lang="en-US" sz="3600" b="1" dirty="0"/>
              <a:t>Biggest challenges</a:t>
            </a:r>
            <a:r>
              <a:rPr lang="en-US" sz="3600" dirty="0"/>
              <a:t>: </a:t>
            </a:r>
          </a:p>
          <a:p>
            <a:pPr marL="0" indent="0" fontAlgn="base">
              <a:buNone/>
            </a:pPr>
            <a:r>
              <a:rPr lang="en-US" sz="3600" dirty="0"/>
              <a:t>Too costly and </a:t>
            </a:r>
            <a:r>
              <a:rPr lang="en-US" sz="3600" i="1" dirty="0"/>
              <a:t>very</a:t>
            </a:r>
            <a:r>
              <a:rPr lang="en-US" sz="3600" dirty="0"/>
              <a:t> invasive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1824053"/>
            <a:ext cx="3591560" cy="3059477"/>
          </a:xfrm>
          <a:prstGeom prst="round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05417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Functional Magnetic Resonance 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06928" y="2318657"/>
            <a:ext cx="5350330" cy="213360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dirty="0"/>
              <a:t>fMRI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600" dirty="0"/>
              <a:t>Real-time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600" dirty="0"/>
              <a:t>3D models of the body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6941" y="1462314"/>
            <a:ext cx="5501048" cy="4125786"/>
          </a:xfrm>
          <a:prstGeom prst="round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0759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17600" y="2273300"/>
            <a:ext cx="4533900" cy="2971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Changes in whole-brain maps of pattern vectors and predicts the cognitive state the brain is experiencing.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630680"/>
            <a:ext cx="4279900" cy="42799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4004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9377" y="1800095"/>
            <a:ext cx="8458200" cy="3200400"/>
          </a:xfrm>
        </p:spPr>
        <p:txBody>
          <a:bodyPr>
            <a:normAutofit/>
          </a:bodyPr>
          <a:lstStyle/>
          <a:p>
            <a:r>
              <a:rPr lang="en-US" sz="3200" dirty="0"/>
              <a:t>Accurate but costly.</a:t>
            </a:r>
          </a:p>
          <a:p>
            <a:r>
              <a:rPr lang="en-US" sz="3200" dirty="0"/>
              <a:t>Best for pool of subjects, not individuals.</a:t>
            </a:r>
          </a:p>
          <a:p>
            <a:r>
              <a:rPr lang="en-US" sz="3200" dirty="0"/>
              <a:t>No industry standardization yet.</a:t>
            </a:r>
          </a:p>
          <a:p>
            <a:r>
              <a:rPr lang="en-US" sz="3200" dirty="0"/>
              <a:t>Not certain if evasive </a:t>
            </a:r>
            <a:br>
              <a:rPr lang="en-US" sz="3200" dirty="0"/>
            </a:br>
            <a:r>
              <a:rPr lang="en-US" sz="3200" dirty="0"/>
              <a:t>countermeasures can be used.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854200"/>
            <a:ext cx="3644900" cy="309219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8168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14400" y="1704514"/>
            <a:ext cx="4343400" cy="2892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fMRI can be used to predict simple risky behavior at </a:t>
            </a:r>
            <a:r>
              <a:rPr lang="en-US" sz="3600" b="1" dirty="0"/>
              <a:t>72%                                          </a:t>
            </a:r>
            <a:r>
              <a:rPr lang="en-US" sz="3600" dirty="0"/>
              <a:t>accuracy.</a:t>
            </a:r>
          </a:p>
        </p:txBody>
      </p:sp>
      <p:pic>
        <p:nvPicPr>
          <p:cNvPr id="4" name="Picture 3" descr="22855760_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2101" y="1704514"/>
            <a:ext cx="4800601" cy="3200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372101" y="5139347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Light" pitchFamily="50" charset="0"/>
              </a:rPr>
              <a:t>Source: National Academy of Sciences (Feb 2014) </a:t>
            </a:r>
          </a:p>
        </p:txBody>
      </p:sp>
    </p:spTree>
    <p:extLst>
      <p:ext uri="{BB962C8B-B14F-4D97-AF65-F5344CB8AC3E}">
        <p14:creationId xmlns:p14="http://schemas.microsoft.com/office/powerpoint/2010/main" val="189324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#7 Ocular Motor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2388" y="1702676"/>
            <a:ext cx="7108312" cy="3962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b="1" dirty="0"/>
              <a:t>Basis for Method</a:t>
            </a:r>
          </a:p>
          <a:p>
            <a:pPr>
              <a:lnSpc>
                <a:spcPct val="120000"/>
              </a:lnSpc>
            </a:pPr>
            <a:r>
              <a:rPr lang="en-US" dirty="0"/>
              <a:t>Kircher &amp; Raskin sought for a new method of detecting deception.</a:t>
            </a:r>
          </a:p>
          <a:p>
            <a:pPr>
              <a:lnSpc>
                <a:spcPct val="120000"/>
              </a:lnSpc>
            </a:pPr>
            <a:r>
              <a:rPr lang="en-US" dirty="0"/>
              <a:t>Goal to find other physiological test.</a:t>
            </a:r>
          </a:p>
          <a:p>
            <a:pPr>
              <a:lnSpc>
                <a:spcPct val="120000"/>
              </a:lnSpc>
            </a:pPr>
            <a:r>
              <a:rPr lang="en-US" dirty="0"/>
              <a:t>The eye exhibits involuntary changes when lying.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8496" y="2311400"/>
            <a:ext cx="3756732" cy="25654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32500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#7 Ocular Motor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29657" y="1162957"/>
            <a:ext cx="5613400" cy="4419600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Method: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Examinee’s eyes are scanned.                                   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Involuntary changes detected: eye movement, fixation, pupil dilation, and others.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Measures cognitive workload.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Monitors involuntary deception cues.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Source: Journal of Experimental Psychology: Applied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9080" y="2260600"/>
            <a:ext cx="4054715" cy="304648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2921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-2228273" y="244763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25" name="Chart 29"/>
          <p:cNvGraphicFramePr/>
          <p:nvPr>
            <p:extLst/>
          </p:nvPr>
        </p:nvGraphicFramePr>
        <p:xfrm>
          <a:off x="6324601" y="2610257"/>
          <a:ext cx="3701865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35"/>
          <p:cNvGraphicFramePr/>
          <p:nvPr>
            <p:extLst/>
          </p:nvPr>
        </p:nvGraphicFramePr>
        <p:xfrm>
          <a:off x="2203939" y="2610257"/>
          <a:ext cx="3810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TextBox 40"/>
          <p:cNvSpPr txBox="1"/>
          <p:nvPr/>
        </p:nvSpPr>
        <p:spPr>
          <a:xfrm>
            <a:off x="1600200" y="3479094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Gill Sans Light" pitchFamily="50" charset="0"/>
                <a:ea typeface="Calibri" charset="0"/>
                <a:cs typeface="Calibri" charset="0"/>
              </a:rPr>
              <a:t>Tec, 2013</a:t>
            </a:r>
          </a:p>
        </p:txBody>
      </p:sp>
      <p:sp>
        <p:nvSpPr>
          <p:cNvPr id="29" name="CuadroTexto 6"/>
          <p:cNvSpPr txBox="1"/>
          <p:nvPr/>
        </p:nvSpPr>
        <p:spPr>
          <a:xfrm>
            <a:off x="1561982" y="3926137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Gill Sans Light" pitchFamily="50" charset="0"/>
                <a:ea typeface="Calibri" charset="0"/>
                <a:cs typeface="Calibri" charset="0"/>
              </a:rPr>
              <a:t>N=200</a:t>
            </a:r>
          </a:p>
        </p:txBody>
      </p:sp>
      <p:sp>
        <p:nvSpPr>
          <p:cNvPr id="30" name="Text Box 64"/>
          <p:cNvSpPr txBox="1">
            <a:spLocks noChangeArrowheads="1"/>
          </p:cNvSpPr>
          <p:nvPr/>
        </p:nvSpPr>
        <p:spPr bwMode="auto">
          <a:xfrm>
            <a:off x="6722374" y="2306359"/>
            <a:ext cx="304800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en-US" sz="1400" b="1" dirty="0">
                <a:latin typeface="Gill Sans Light" pitchFamily="50" charset="0"/>
                <a:ea typeface="Calibri" charset="0"/>
                <a:cs typeface="Calibri" charset="0"/>
              </a:rPr>
              <a:t>Innocent Subjects</a:t>
            </a:r>
          </a:p>
        </p:txBody>
      </p:sp>
      <p:sp>
        <p:nvSpPr>
          <p:cNvPr id="31" name="Text Box 74"/>
          <p:cNvSpPr txBox="1">
            <a:spLocks noChangeArrowheads="1"/>
          </p:cNvSpPr>
          <p:nvPr/>
        </p:nvSpPr>
        <p:spPr bwMode="auto">
          <a:xfrm>
            <a:off x="2759974" y="2301597"/>
            <a:ext cx="266700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en-US" sz="1400" b="1" dirty="0">
                <a:latin typeface="Gill Sans Light" pitchFamily="50" charset="0"/>
                <a:ea typeface="Calibri" charset="0"/>
                <a:cs typeface="Calibri" charset="0"/>
              </a:rPr>
              <a:t>Guilty Subjects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3118400" y="5244850"/>
            <a:ext cx="197304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Gill Sans Light" pitchFamily="50" charset="0"/>
                <a:ea typeface="Calibri" charset="0"/>
                <a:cs typeface="Calibri" charset="0"/>
              </a:rPr>
              <a:t>Relevant Declarations</a:t>
            </a:r>
          </a:p>
          <a:p>
            <a:pPr>
              <a:defRPr/>
            </a:pPr>
            <a:r>
              <a:rPr lang="en-US" sz="1400" b="1" dirty="0">
                <a:latin typeface="Gill Sans Light" pitchFamily="50" charset="0"/>
                <a:ea typeface="Calibri" charset="0"/>
                <a:cs typeface="Calibri" charset="0"/>
              </a:rPr>
              <a:t>Secondary Declarations</a:t>
            </a:r>
          </a:p>
          <a:p>
            <a:pPr>
              <a:defRPr/>
            </a:pPr>
            <a:r>
              <a:rPr lang="en-US" sz="1400" b="1" dirty="0">
                <a:latin typeface="Gill Sans Light" pitchFamily="50" charset="0"/>
                <a:ea typeface="Calibri" charset="0"/>
                <a:cs typeface="Calibri" charset="0"/>
              </a:rPr>
              <a:t>Neutral Declarations</a:t>
            </a:r>
          </a:p>
        </p:txBody>
      </p:sp>
      <p:sp>
        <p:nvSpPr>
          <p:cNvPr id="33" name="Rectangle 24"/>
          <p:cNvSpPr/>
          <p:nvPr/>
        </p:nvSpPr>
        <p:spPr>
          <a:xfrm>
            <a:off x="2689774" y="5363912"/>
            <a:ext cx="3048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Gill Sans Light" pitchFamily="50" charset="0"/>
              <a:ea typeface="Calibri" charset="0"/>
              <a:cs typeface="Calibri" charset="0"/>
            </a:endParaRPr>
          </a:p>
        </p:txBody>
      </p:sp>
      <p:sp>
        <p:nvSpPr>
          <p:cNvPr id="34" name="Rectangle 25"/>
          <p:cNvSpPr/>
          <p:nvPr/>
        </p:nvSpPr>
        <p:spPr>
          <a:xfrm>
            <a:off x="2689774" y="5565525"/>
            <a:ext cx="304800" cy="152400"/>
          </a:xfrm>
          <a:prstGeom prst="rect">
            <a:avLst/>
          </a:prstGeom>
          <a:solidFill>
            <a:srgbClr val="FFB4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Gill Sans Light" pitchFamily="50" charset="0"/>
              <a:ea typeface="Calibri" charset="0"/>
              <a:cs typeface="Calibri" charset="0"/>
            </a:endParaRPr>
          </a:p>
        </p:txBody>
      </p:sp>
      <p:sp>
        <p:nvSpPr>
          <p:cNvPr id="37" name="Rectangle 25"/>
          <p:cNvSpPr/>
          <p:nvPr/>
        </p:nvSpPr>
        <p:spPr>
          <a:xfrm>
            <a:off x="2689774" y="5768070"/>
            <a:ext cx="304800" cy="1524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Gill Sans Light" pitchFamily="50" charset="0"/>
              <a:ea typeface="Calibri" charset="0"/>
              <a:cs typeface="Calibri" charset="0"/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4114800" y="1640114"/>
            <a:ext cx="40386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 baseline="0">
                <a:solidFill>
                  <a:schemeClr val="tx1"/>
                </a:solidFill>
                <a:latin typeface="Dosi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latin typeface="Gill Sans Light" pitchFamily="50" charset="0"/>
                <a:ea typeface="Calibri" charset="0"/>
                <a:cs typeface="Calibri" charset="0"/>
              </a:rPr>
              <a:t>Pupil Diameter Response*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86436" y="5537983"/>
            <a:ext cx="279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Light" pitchFamily="50" charset="0"/>
                <a:ea typeface="Calibri" charset="0"/>
                <a:cs typeface="Calibri" charset="0"/>
              </a:rPr>
              <a:t>* just one of various measurements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86% mean accuracy</a:t>
            </a:r>
          </a:p>
        </p:txBody>
      </p:sp>
    </p:spTree>
    <p:extLst>
      <p:ext uri="{BB962C8B-B14F-4D97-AF65-F5344CB8AC3E}">
        <p14:creationId xmlns:p14="http://schemas.microsoft.com/office/powerpoint/2010/main" val="33973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874" y="3403704"/>
            <a:ext cx="3697097" cy="2873083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881484" y="2201688"/>
            <a:ext cx="7620000" cy="3127828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dirty="0"/>
              <a:t>Subjects must have proficient reading skills.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600" dirty="0"/>
              <a:t>Standardized test.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600" dirty="0"/>
              <a:t>Test design: cultural and local use  of vocabulary.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600" dirty="0"/>
              <a:t>Few relevant issues (but highly accurate).</a:t>
            </a:r>
          </a:p>
        </p:txBody>
      </p:sp>
      <p:pic>
        <p:nvPicPr>
          <p:cNvPr id="7" name="Picture 6" descr="Rev Deception Detection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8101" y="2298701"/>
            <a:ext cx="573383" cy="495403"/>
          </a:xfrm>
          <a:prstGeom prst="rect">
            <a:avLst/>
          </a:prstGeom>
        </p:spPr>
      </p:pic>
      <p:pic>
        <p:nvPicPr>
          <p:cNvPr id="8" name="Picture 7" descr="Rev Deception Detection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8101" y="2908301"/>
            <a:ext cx="573383" cy="495403"/>
          </a:xfrm>
          <a:prstGeom prst="rect">
            <a:avLst/>
          </a:prstGeom>
        </p:spPr>
      </p:pic>
      <p:pic>
        <p:nvPicPr>
          <p:cNvPr id="9" name="Picture 8" descr="Rev Deception Detection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8101" y="3517901"/>
            <a:ext cx="573383" cy="495403"/>
          </a:xfrm>
          <a:prstGeom prst="rect">
            <a:avLst/>
          </a:prstGeom>
        </p:spPr>
      </p:pic>
      <p:pic>
        <p:nvPicPr>
          <p:cNvPr id="11" name="Picture 10" descr="Rev Deception Detection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8101" y="4127501"/>
            <a:ext cx="573383" cy="49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6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World Class Science Team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4294967295"/>
          </p:nvPr>
        </p:nvSpPr>
        <p:spPr>
          <a:xfrm>
            <a:off x="2223214" y="4170468"/>
            <a:ext cx="8502975" cy="16383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Inventors of the computerized polygraph</a:t>
            </a:r>
          </a:p>
          <a:p>
            <a:r>
              <a:rPr lang="en-US" sz="3200" dirty="0"/>
              <a:t>World-renowned, widely published experts</a:t>
            </a:r>
          </a:p>
          <a:p>
            <a:r>
              <a:rPr lang="en-US" sz="3200" dirty="0"/>
              <a:t>8 peer-reviewed studies (more than polygraph)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2228273" y="244763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585669" y="3534375"/>
            <a:ext cx="1752600" cy="40862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Light" pitchFamily="50" charset="0"/>
              </a:rPr>
              <a:t>Dr. David Raskin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8413" y="3534375"/>
            <a:ext cx="1752600" cy="40862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Light" pitchFamily="50" charset="0"/>
              </a:rPr>
              <a:t>Dr. John Kircher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3613" y="3534375"/>
            <a:ext cx="1500543" cy="408623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 pitchFamily="50" charset="0"/>
              </a:rPr>
              <a:t>Dr. Dan Woltz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014" y="3534375"/>
            <a:ext cx="1573747" cy="408623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 pitchFamily="50" charset="0"/>
              </a:rPr>
              <a:t>Dr. Anne Cook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2613" y="3534375"/>
            <a:ext cx="1747344" cy="408623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 pitchFamily="50" charset="0"/>
              </a:rPr>
              <a:t>Dr. Doug Hacker</a:t>
            </a:r>
          </a:p>
        </p:txBody>
      </p:sp>
      <p:pic>
        <p:nvPicPr>
          <p:cNvPr id="30" name="Picture 29" descr="John Kircher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5"/>
          <a:stretch/>
        </p:blipFill>
        <p:spPr>
          <a:xfrm>
            <a:off x="2223214" y="2467575"/>
            <a:ext cx="968547" cy="104328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Picture 30" descr="David Raskin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21"/>
          <a:stretch/>
        </p:blipFill>
        <p:spPr>
          <a:xfrm>
            <a:off x="3896260" y="2474146"/>
            <a:ext cx="933463" cy="1060229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Picture 31" descr="Dan Woltz.JPG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80170" y="2467575"/>
            <a:ext cx="1012046" cy="104328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Picture 32" descr="Anne Cook.JPG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58944" y="2467575"/>
            <a:ext cx="1036881" cy="104328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13453" y="2467575"/>
            <a:ext cx="1056856" cy="104328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956" y="2429122"/>
            <a:ext cx="1265659" cy="126565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7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909426" y="1181952"/>
            <a:ext cx="7858688" cy="51317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dirty="0">
                <a:latin typeface="Gill Sans Light" pitchFamily="50" charset="0"/>
              </a:rPr>
              <a:t>86% accurate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dirty="0">
                <a:latin typeface="Gill Sans Light" pitchFamily="50" charset="0"/>
              </a:rPr>
              <a:t>Non-intrusive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dirty="0">
                <a:latin typeface="Gill Sans Light" pitchFamily="50" charset="0"/>
              </a:rPr>
              <a:t>30 minute test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dirty="0">
                <a:latin typeface="Gill Sans Light" pitchFamily="50" charset="0"/>
              </a:rPr>
              <a:t>Results in 5 minutes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dirty="0">
                <a:latin typeface="Gill Sans Light" pitchFamily="50" charset="0"/>
              </a:rPr>
              <a:t>Automated &amp; Consistent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dirty="0">
                <a:latin typeface="Gill Sans Light" pitchFamily="50" charset="0"/>
              </a:rPr>
              <a:t>Secure &amp; Incorruptible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dirty="0">
                <a:latin typeface="Gill Sans Light" pitchFamily="50" charset="0"/>
              </a:rPr>
              <a:t>Portable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dirty="0">
                <a:latin typeface="Gill Sans Light" pitchFamily="50" charset="0"/>
              </a:rPr>
              <a:t>Cost-effective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Gill Sans Light" pitchFamily="50" charset="0"/>
              </a:rPr>
              <a:t>Trained in 3 hours</a:t>
            </a:r>
          </a:p>
        </p:txBody>
      </p:sp>
      <p:pic>
        <p:nvPicPr>
          <p:cNvPr id="10" name="Picture 9" descr="High Accurac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7334" y="1213210"/>
            <a:ext cx="562092" cy="562092"/>
          </a:xfrm>
          <a:prstGeom prst="rect">
            <a:avLst/>
          </a:prstGeom>
        </p:spPr>
      </p:pic>
      <p:pic>
        <p:nvPicPr>
          <p:cNvPr id="11" name="Picture 10" descr="Simple to Use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84" y="1821565"/>
            <a:ext cx="448359" cy="412201"/>
          </a:xfrm>
          <a:prstGeom prst="rect">
            <a:avLst/>
          </a:prstGeom>
        </p:spPr>
      </p:pic>
      <p:pic>
        <p:nvPicPr>
          <p:cNvPr id="12" name="Picture 11" descr="Scalable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059" y="2893053"/>
            <a:ext cx="519220" cy="445046"/>
          </a:xfrm>
          <a:prstGeom prst="rect">
            <a:avLst/>
          </a:prstGeom>
        </p:spPr>
      </p:pic>
      <p:pic>
        <p:nvPicPr>
          <p:cNvPr id="13" name="Picture 12" descr="Bank-level Secure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4180" y="4014443"/>
            <a:ext cx="358253" cy="381617"/>
          </a:xfrm>
          <a:prstGeom prst="rect">
            <a:avLst/>
          </a:prstGeom>
        </p:spPr>
      </p:pic>
      <p:pic>
        <p:nvPicPr>
          <p:cNvPr id="14" name="Picture 13" descr="Noninvasive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059" y="2306181"/>
            <a:ext cx="514457" cy="514457"/>
          </a:xfrm>
          <a:prstGeom prst="rect">
            <a:avLst/>
          </a:prstGeom>
        </p:spPr>
      </p:pic>
      <p:pic>
        <p:nvPicPr>
          <p:cNvPr id="15" name="Picture 14" descr="Economical.PNG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5915" y="5105838"/>
            <a:ext cx="533511" cy="428425"/>
          </a:xfrm>
          <a:prstGeom prst="rect">
            <a:avLst/>
          </a:prstGeom>
        </p:spPr>
      </p:pic>
      <p:pic>
        <p:nvPicPr>
          <p:cNvPr id="16" name="Picture 15" descr="Rev Deception Detection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4777" y="5620069"/>
            <a:ext cx="619254" cy="495403"/>
          </a:xfrm>
          <a:prstGeom prst="rect">
            <a:avLst/>
          </a:prstGeom>
        </p:spPr>
      </p:pic>
      <p:pic>
        <p:nvPicPr>
          <p:cNvPr id="17" name="Picture 16" descr="Flexible &amp; Portable.PNG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5091" y="4588377"/>
            <a:ext cx="490390" cy="39547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4965" y="1749421"/>
            <a:ext cx="4674838" cy="3472918"/>
          </a:xfrm>
          <a:prstGeom prst="roundRect">
            <a:avLst/>
          </a:prstGeom>
        </p:spPr>
      </p:pic>
      <p:sp>
        <p:nvSpPr>
          <p:cNvPr id="2" name="Arrow: Chevron 1"/>
          <p:cNvSpPr/>
          <p:nvPr/>
        </p:nvSpPr>
        <p:spPr>
          <a:xfrm>
            <a:off x="1569292" y="3525265"/>
            <a:ext cx="190224" cy="331588"/>
          </a:xfrm>
          <a:prstGeom prst="chevron">
            <a:avLst>
              <a:gd name="adj" fmla="val 56259"/>
            </a:avLst>
          </a:prstGeom>
          <a:solidFill>
            <a:srgbClr val="0094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48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Comparison of Technologies</a:t>
            </a:r>
            <a:endParaRPr lang="en-US" sz="27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9377" y="1025097"/>
            <a:ext cx="11114313" cy="507696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Pre-screen/Periodic Test</a:t>
            </a:r>
          </a:p>
        </p:txBody>
      </p:sp>
      <p:pic>
        <p:nvPicPr>
          <p:cNvPr id="2" name="Picture 1" descr="Competitive Comparison_English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6600" y="1257300"/>
            <a:ext cx="8128000" cy="541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17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7725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6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7" y="312874"/>
            <a:ext cx="11114313" cy="70602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2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8" y="312874"/>
            <a:ext cx="10768066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459377" y="1597446"/>
            <a:ext cx="11114313" cy="470782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0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67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8" y="312874"/>
            <a:ext cx="6294120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482124" y="1872546"/>
            <a:ext cx="7462838" cy="3805238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8" y="312874"/>
            <a:ext cx="6294120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482124" y="1872546"/>
            <a:ext cx="7462838" cy="3805238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6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8" y="312874"/>
            <a:ext cx="10768066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2364581" y="3483414"/>
            <a:ext cx="7462838" cy="2821852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0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7" y="312874"/>
            <a:ext cx="7292551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466725" y="1255594"/>
            <a:ext cx="7285203" cy="5076967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4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7" y="312874"/>
            <a:ext cx="10539549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940526" y="2784328"/>
            <a:ext cx="10062724" cy="3299197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1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7" y="312874"/>
            <a:ext cx="10657114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6066429" y="2906536"/>
            <a:ext cx="5050062" cy="3423119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796834" y="2907500"/>
            <a:ext cx="5018592" cy="3423119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5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8" y="312874"/>
            <a:ext cx="10629170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6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7" y="312874"/>
            <a:ext cx="10710193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1384940" y="2395218"/>
            <a:ext cx="9393237" cy="3841809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7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8" y="312874"/>
            <a:ext cx="10663894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631825" y="2116138"/>
            <a:ext cx="4895518" cy="4202112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6700598" y="2116138"/>
            <a:ext cx="4895518" cy="4202112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2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8" y="312874"/>
            <a:ext cx="10606020" cy="706029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631825" y="2116138"/>
            <a:ext cx="5181146" cy="4202112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6391437" y="2116138"/>
            <a:ext cx="5182253" cy="4202112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1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72272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3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verus Corpor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</TotalTime>
  <Words>1789</Words>
  <Application>Microsoft Macintosh PowerPoint</Application>
  <PresentationFormat>Widescreen</PresentationFormat>
  <Paragraphs>326</Paragraphs>
  <Slides>58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9" baseType="lpstr">
      <vt:lpstr>American Typewriter</vt:lpstr>
      <vt:lpstr>Arial</vt:lpstr>
      <vt:lpstr>Calibri</vt:lpstr>
      <vt:lpstr>Dosis</vt:lpstr>
      <vt:lpstr>Gill Sans Light</vt:lpstr>
      <vt:lpstr>Gill Sans SemiBold</vt:lpstr>
      <vt:lpstr>Times New Roman</vt:lpstr>
      <vt:lpstr>Wawati SC Regular</vt:lpstr>
      <vt:lpstr>Wingdings</vt:lpstr>
      <vt:lpstr>Wingdings 3</vt:lpstr>
      <vt:lpstr>Converus Corporate</vt:lpstr>
      <vt:lpstr>Today’s Deception Detection Technologies</vt:lpstr>
      <vt:lpstr>PowerPoint Presentation</vt:lpstr>
      <vt:lpstr>Agenda</vt:lpstr>
      <vt:lpstr>PART 1: Overview of Lying</vt:lpstr>
      <vt:lpstr>So many ways to lie</vt:lpstr>
      <vt:lpstr>So many liars</vt:lpstr>
      <vt:lpstr>Physiological Changes </vt:lpstr>
      <vt:lpstr>Test Types</vt:lpstr>
      <vt:lpstr>PART 2: Testing Methods</vt:lpstr>
      <vt:lpstr>Today’s techniques</vt:lpstr>
      <vt:lpstr>#2 Observation/Interrogation</vt:lpstr>
      <vt:lpstr>#2 Observation/Interrogation</vt:lpstr>
      <vt:lpstr>#3 Personality Tests</vt:lpstr>
      <vt:lpstr>The Criterion-Related Validity of Integrity Tests: An Updated Meta-Analysis </vt:lpstr>
      <vt:lpstr>Methodology</vt:lpstr>
      <vt:lpstr>Correlation: Results &amp; Measures</vt:lpstr>
      <vt:lpstr>Limitations</vt:lpstr>
      <vt:lpstr>PowerPoint Presentation</vt:lpstr>
      <vt:lpstr>Polygraph Measures</vt:lpstr>
      <vt:lpstr>Sensors</vt:lpstr>
      <vt:lpstr>Accuracy</vt:lpstr>
      <vt:lpstr>Bias</vt:lpstr>
      <vt:lpstr>Acting</vt:lpstr>
      <vt:lpstr>Innocent Appear Guilty</vt:lpstr>
      <vt:lpstr>#5 CVSA</vt:lpstr>
      <vt:lpstr>Accuracy</vt:lpstr>
      <vt:lpstr>Research</vt:lpstr>
      <vt:lpstr>#6 Brain Scan </vt:lpstr>
      <vt:lpstr>Measures</vt:lpstr>
      <vt:lpstr>Accuracy</vt:lpstr>
      <vt:lpstr>Functional Magnetic Resonance Imaging</vt:lpstr>
      <vt:lpstr>Method</vt:lpstr>
      <vt:lpstr>Challenges</vt:lpstr>
      <vt:lpstr>Accuracy</vt:lpstr>
      <vt:lpstr>#7 Ocular Motor </vt:lpstr>
      <vt:lpstr>#7 Ocular Motor </vt:lpstr>
      <vt:lpstr>86% mean accuracy</vt:lpstr>
      <vt:lpstr>Challenges</vt:lpstr>
      <vt:lpstr>World Class Science Team</vt:lpstr>
      <vt:lpstr>Method</vt:lpstr>
      <vt:lpstr>Comparison of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Tyson Mickelsen</dc:creator>
  <cp:lastModifiedBy>Russ Warner</cp:lastModifiedBy>
  <cp:revision>43</cp:revision>
  <cp:lastPrinted>2018-04-08T15:05:31Z</cp:lastPrinted>
  <dcterms:created xsi:type="dcterms:W3CDTF">2017-05-11T02:15:33Z</dcterms:created>
  <dcterms:modified xsi:type="dcterms:W3CDTF">2018-04-08T15:06:13Z</dcterms:modified>
</cp:coreProperties>
</file>